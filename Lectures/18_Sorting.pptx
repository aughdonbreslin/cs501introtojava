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4" r:id="rId8"/>
    <p:sldId id="261" r:id="rId9"/>
    <p:sldId id="263" r:id="rId10"/>
    <p:sldId id="265" r:id="rId11"/>
    <p:sldId id="266" r:id="rId12"/>
    <p:sldId id="267" r:id="rId13"/>
    <p:sldId id="268" r:id="rId14"/>
    <p:sldId id="269" r:id="rId15"/>
    <p:sldId id="270" r:id="rId16"/>
    <p:sldId id="271" r:id="rId17"/>
    <p:sldId id="274" r:id="rId18"/>
    <p:sldId id="272" r:id="rId19"/>
    <p:sldId id="273" r:id="rId20"/>
    <p:sldId id="280" r:id="rId21"/>
    <p:sldId id="276" r:id="rId22"/>
    <p:sldId id="275" r:id="rId23"/>
    <p:sldId id="278" r:id="rId24"/>
    <p:sldId id="283" r:id="rId25"/>
    <p:sldId id="279" r:id="rId26"/>
    <p:sldId id="281" r:id="rId27"/>
    <p:sldId id="277" r:id="rId28"/>
    <p:sldId id="282"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132" y="16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5AB1C-BA35-30FF-29F2-E13BFD194D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3C7E5F-8FF2-460E-C97C-626C23EF53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E65FF4-53A2-DD35-6C82-07B53D4408F2}"/>
              </a:ext>
            </a:extLst>
          </p:cNvPr>
          <p:cNvSpPr>
            <a:spLocks noGrp="1"/>
          </p:cNvSpPr>
          <p:nvPr>
            <p:ph type="dt" sz="half" idx="10"/>
          </p:nvPr>
        </p:nvSpPr>
        <p:spPr/>
        <p:txBody>
          <a:bodyPr/>
          <a:lstStyle/>
          <a:p>
            <a:fld id="{EECBFD47-4295-4433-A9A9-2DEC90DE0453}" type="datetimeFigureOut">
              <a:rPr lang="en-US" smtClean="0"/>
              <a:t>4/19/2025</a:t>
            </a:fld>
            <a:endParaRPr lang="en-US"/>
          </a:p>
        </p:txBody>
      </p:sp>
      <p:sp>
        <p:nvSpPr>
          <p:cNvPr id="5" name="Footer Placeholder 4">
            <a:extLst>
              <a:ext uri="{FF2B5EF4-FFF2-40B4-BE49-F238E27FC236}">
                <a16:creationId xmlns:a16="http://schemas.microsoft.com/office/drawing/2014/main" id="{A4D7E924-58BF-7718-3346-C5C4BCAE47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51FB6-9801-6B56-FC1B-EC2B9AD6C507}"/>
              </a:ext>
            </a:extLst>
          </p:cNvPr>
          <p:cNvSpPr>
            <a:spLocks noGrp="1"/>
          </p:cNvSpPr>
          <p:nvPr>
            <p:ph type="sldNum" sz="quarter" idx="12"/>
          </p:nvPr>
        </p:nvSpPr>
        <p:spPr/>
        <p:txBody>
          <a:bodyPr/>
          <a:lstStyle/>
          <a:p>
            <a:fld id="{F1728FD4-1FAE-4C4E-9949-A27C5F3A398F}" type="slidenum">
              <a:rPr lang="en-US" smtClean="0"/>
              <a:t>‹#›</a:t>
            </a:fld>
            <a:endParaRPr lang="en-US"/>
          </a:p>
        </p:txBody>
      </p:sp>
    </p:spTree>
    <p:extLst>
      <p:ext uri="{BB962C8B-B14F-4D97-AF65-F5344CB8AC3E}">
        <p14:creationId xmlns:p14="http://schemas.microsoft.com/office/powerpoint/2010/main" val="874637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B1DC0-E912-DCDA-0F96-7086566F33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F742FB-F34C-BDD8-D32B-357CCAB369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8F252D-E3E3-6095-8782-BB0A8823EDB2}"/>
              </a:ext>
            </a:extLst>
          </p:cNvPr>
          <p:cNvSpPr>
            <a:spLocks noGrp="1"/>
          </p:cNvSpPr>
          <p:nvPr>
            <p:ph type="dt" sz="half" idx="10"/>
          </p:nvPr>
        </p:nvSpPr>
        <p:spPr/>
        <p:txBody>
          <a:bodyPr/>
          <a:lstStyle/>
          <a:p>
            <a:fld id="{EECBFD47-4295-4433-A9A9-2DEC90DE0453}" type="datetimeFigureOut">
              <a:rPr lang="en-US" smtClean="0"/>
              <a:t>4/19/2025</a:t>
            </a:fld>
            <a:endParaRPr lang="en-US"/>
          </a:p>
        </p:txBody>
      </p:sp>
      <p:sp>
        <p:nvSpPr>
          <p:cNvPr id="5" name="Footer Placeholder 4">
            <a:extLst>
              <a:ext uri="{FF2B5EF4-FFF2-40B4-BE49-F238E27FC236}">
                <a16:creationId xmlns:a16="http://schemas.microsoft.com/office/drawing/2014/main" id="{50255E4F-846B-DAB6-71D2-0712931222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477591-D955-2ECC-46CF-EF3F429C1B90}"/>
              </a:ext>
            </a:extLst>
          </p:cNvPr>
          <p:cNvSpPr>
            <a:spLocks noGrp="1"/>
          </p:cNvSpPr>
          <p:nvPr>
            <p:ph type="sldNum" sz="quarter" idx="12"/>
          </p:nvPr>
        </p:nvSpPr>
        <p:spPr/>
        <p:txBody>
          <a:bodyPr/>
          <a:lstStyle/>
          <a:p>
            <a:fld id="{F1728FD4-1FAE-4C4E-9949-A27C5F3A398F}" type="slidenum">
              <a:rPr lang="en-US" smtClean="0"/>
              <a:t>‹#›</a:t>
            </a:fld>
            <a:endParaRPr lang="en-US"/>
          </a:p>
        </p:txBody>
      </p:sp>
    </p:spTree>
    <p:extLst>
      <p:ext uri="{BB962C8B-B14F-4D97-AF65-F5344CB8AC3E}">
        <p14:creationId xmlns:p14="http://schemas.microsoft.com/office/powerpoint/2010/main" val="3844392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94D2E-A207-6D3D-CC63-A89190693C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586528-A08D-F526-4BF1-418F221E46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68B78F-BF88-634C-20DC-B562C2A82D9D}"/>
              </a:ext>
            </a:extLst>
          </p:cNvPr>
          <p:cNvSpPr>
            <a:spLocks noGrp="1"/>
          </p:cNvSpPr>
          <p:nvPr>
            <p:ph type="dt" sz="half" idx="10"/>
          </p:nvPr>
        </p:nvSpPr>
        <p:spPr/>
        <p:txBody>
          <a:bodyPr/>
          <a:lstStyle/>
          <a:p>
            <a:fld id="{EECBFD47-4295-4433-A9A9-2DEC90DE0453}" type="datetimeFigureOut">
              <a:rPr lang="en-US" smtClean="0"/>
              <a:t>4/19/2025</a:t>
            </a:fld>
            <a:endParaRPr lang="en-US"/>
          </a:p>
        </p:txBody>
      </p:sp>
      <p:sp>
        <p:nvSpPr>
          <p:cNvPr id="5" name="Footer Placeholder 4">
            <a:extLst>
              <a:ext uri="{FF2B5EF4-FFF2-40B4-BE49-F238E27FC236}">
                <a16:creationId xmlns:a16="http://schemas.microsoft.com/office/drawing/2014/main" id="{0889E76B-78D4-0169-42EC-13262A828B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393604-B20E-F02A-7BE9-778599071E26}"/>
              </a:ext>
            </a:extLst>
          </p:cNvPr>
          <p:cNvSpPr>
            <a:spLocks noGrp="1"/>
          </p:cNvSpPr>
          <p:nvPr>
            <p:ph type="sldNum" sz="quarter" idx="12"/>
          </p:nvPr>
        </p:nvSpPr>
        <p:spPr/>
        <p:txBody>
          <a:bodyPr/>
          <a:lstStyle/>
          <a:p>
            <a:fld id="{F1728FD4-1FAE-4C4E-9949-A27C5F3A398F}" type="slidenum">
              <a:rPr lang="en-US" smtClean="0"/>
              <a:t>‹#›</a:t>
            </a:fld>
            <a:endParaRPr lang="en-US"/>
          </a:p>
        </p:txBody>
      </p:sp>
    </p:spTree>
    <p:extLst>
      <p:ext uri="{BB962C8B-B14F-4D97-AF65-F5344CB8AC3E}">
        <p14:creationId xmlns:p14="http://schemas.microsoft.com/office/powerpoint/2010/main" val="238610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07F4-8FD3-2A48-17A6-B6409A064E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873599-9011-0755-7D64-7F380377AF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1F9AE9-179B-1D01-4FB0-6BDB92AE10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93E19C-DC84-F600-51A4-02724ADEE8B3}"/>
              </a:ext>
            </a:extLst>
          </p:cNvPr>
          <p:cNvSpPr>
            <a:spLocks noGrp="1"/>
          </p:cNvSpPr>
          <p:nvPr>
            <p:ph type="dt" sz="half" idx="10"/>
          </p:nvPr>
        </p:nvSpPr>
        <p:spPr/>
        <p:txBody>
          <a:bodyPr/>
          <a:lstStyle/>
          <a:p>
            <a:fld id="{EECBFD47-4295-4433-A9A9-2DEC90DE0453}" type="datetimeFigureOut">
              <a:rPr lang="en-US" smtClean="0"/>
              <a:t>4/19/2025</a:t>
            </a:fld>
            <a:endParaRPr lang="en-US"/>
          </a:p>
        </p:txBody>
      </p:sp>
      <p:sp>
        <p:nvSpPr>
          <p:cNvPr id="6" name="Footer Placeholder 5">
            <a:extLst>
              <a:ext uri="{FF2B5EF4-FFF2-40B4-BE49-F238E27FC236}">
                <a16:creationId xmlns:a16="http://schemas.microsoft.com/office/drawing/2014/main" id="{6C035B87-1D3C-AA4F-8A28-AE7012859B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791126-A539-75B9-6599-68082371203B}"/>
              </a:ext>
            </a:extLst>
          </p:cNvPr>
          <p:cNvSpPr>
            <a:spLocks noGrp="1"/>
          </p:cNvSpPr>
          <p:nvPr>
            <p:ph type="sldNum" sz="quarter" idx="12"/>
          </p:nvPr>
        </p:nvSpPr>
        <p:spPr/>
        <p:txBody>
          <a:bodyPr/>
          <a:lstStyle/>
          <a:p>
            <a:fld id="{F1728FD4-1FAE-4C4E-9949-A27C5F3A398F}" type="slidenum">
              <a:rPr lang="en-US" smtClean="0"/>
              <a:t>‹#›</a:t>
            </a:fld>
            <a:endParaRPr lang="en-US"/>
          </a:p>
        </p:txBody>
      </p:sp>
    </p:spTree>
    <p:extLst>
      <p:ext uri="{BB962C8B-B14F-4D97-AF65-F5344CB8AC3E}">
        <p14:creationId xmlns:p14="http://schemas.microsoft.com/office/powerpoint/2010/main" val="1892448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C8599-47FF-14AA-A1A5-77EDACF803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AAD299-4CE2-2A21-3924-7B1EB21FF8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9D9BDC-8B31-D61E-07AE-9CD45EC36C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27834A-CF78-7578-F657-D9574A951F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3C1580-CB2B-9DA9-D56B-E0E9121F10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AE68D7-0B65-4B70-C31F-3EE4972EC959}"/>
              </a:ext>
            </a:extLst>
          </p:cNvPr>
          <p:cNvSpPr>
            <a:spLocks noGrp="1"/>
          </p:cNvSpPr>
          <p:nvPr>
            <p:ph type="dt" sz="half" idx="10"/>
          </p:nvPr>
        </p:nvSpPr>
        <p:spPr/>
        <p:txBody>
          <a:bodyPr/>
          <a:lstStyle/>
          <a:p>
            <a:fld id="{EECBFD47-4295-4433-A9A9-2DEC90DE0453}" type="datetimeFigureOut">
              <a:rPr lang="en-US" smtClean="0"/>
              <a:t>4/19/2025</a:t>
            </a:fld>
            <a:endParaRPr lang="en-US"/>
          </a:p>
        </p:txBody>
      </p:sp>
      <p:sp>
        <p:nvSpPr>
          <p:cNvPr id="8" name="Footer Placeholder 7">
            <a:extLst>
              <a:ext uri="{FF2B5EF4-FFF2-40B4-BE49-F238E27FC236}">
                <a16:creationId xmlns:a16="http://schemas.microsoft.com/office/drawing/2014/main" id="{1D05CFF6-0285-7D7D-AF32-D000E014CDA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54591E-587C-A413-6BC7-46B5E874C54F}"/>
              </a:ext>
            </a:extLst>
          </p:cNvPr>
          <p:cNvSpPr>
            <a:spLocks noGrp="1"/>
          </p:cNvSpPr>
          <p:nvPr>
            <p:ph type="sldNum" sz="quarter" idx="12"/>
          </p:nvPr>
        </p:nvSpPr>
        <p:spPr/>
        <p:txBody>
          <a:bodyPr/>
          <a:lstStyle/>
          <a:p>
            <a:fld id="{F1728FD4-1FAE-4C4E-9949-A27C5F3A398F}" type="slidenum">
              <a:rPr lang="en-US" smtClean="0"/>
              <a:t>‹#›</a:t>
            </a:fld>
            <a:endParaRPr lang="en-US"/>
          </a:p>
        </p:txBody>
      </p:sp>
    </p:spTree>
    <p:extLst>
      <p:ext uri="{BB962C8B-B14F-4D97-AF65-F5344CB8AC3E}">
        <p14:creationId xmlns:p14="http://schemas.microsoft.com/office/powerpoint/2010/main" val="91707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DD54-20CC-FA59-48CF-AAD516E1CC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6F9088-76DE-58CA-9947-63FFF93350BD}"/>
              </a:ext>
            </a:extLst>
          </p:cNvPr>
          <p:cNvSpPr>
            <a:spLocks noGrp="1"/>
          </p:cNvSpPr>
          <p:nvPr>
            <p:ph type="dt" sz="half" idx="10"/>
          </p:nvPr>
        </p:nvSpPr>
        <p:spPr/>
        <p:txBody>
          <a:bodyPr/>
          <a:lstStyle/>
          <a:p>
            <a:fld id="{EECBFD47-4295-4433-A9A9-2DEC90DE0453}" type="datetimeFigureOut">
              <a:rPr lang="en-US" smtClean="0"/>
              <a:t>4/19/2025</a:t>
            </a:fld>
            <a:endParaRPr lang="en-US"/>
          </a:p>
        </p:txBody>
      </p:sp>
      <p:sp>
        <p:nvSpPr>
          <p:cNvPr id="4" name="Footer Placeholder 3">
            <a:extLst>
              <a:ext uri="{FF2B5EF4-FFF2-40B4-BE49-F238E27FC236}">
                <a16:creationId xmlns:a16="http://schemas.microsoft.com/office/drawing/2014/main" id="{F9FEAFDF-4B51-C8CF-1117-FD735CDCEA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5AA71D-06E9-93D9-D43E-DC6DF5541F5B}"/>
              </a:ext>
            </a:extLst>
          </p:cNvPr>
          <p:cNvSpPr>
            <a:spLocks noGrp="1"/>
          </p:cNvSpPr>
          <p:nvPr>
            <p:ph type="sldNum" sz="quarter" idx="12"/>
          </p:nvPr>
        </p:nvSpPr>
        <p:spPr/>
        <p:txBody>
          <a:bodyPr/>
          <a:lstStyle/>
          <a:p>
            <a:fld id="{F1728FD4-1FAE-4C4E-9949-A27C5F3A398F}" type="slidenum">
              <a:rPr lang="en-US" smtClean="0"/>
              <a:t>‹#›</a:t>
            </a:fld>
            <a:endParaRPr lang="en-US"/>
          </a:p>
        </p:txBody>
      </p:sp>
    </p:spTree>
    <p:extLst>
      <p:ext uri="{BB962C8B-B14F-4D97-AF65-F5344CB8AC3E}">
        <p14:creationId xmlns:p14="http://schemas.microsoft.com/office/powerpoint/2010/main" val="2941308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402DD8-C8BF-E257-166B-194ADA59200A}"/>
              </a:ext>
            </a:extLst>
          </p:cNvPr>
          <p:cNvSpPr>
            <a:spLocks noGrp="1"/>
          </p:cNvSpPr>
          <p:nvPr>
            <p:ph type="dt" sz="half" idx="10"/>
          </p:nvPr>
        </p:nvSpPr>
        <p:spPr/>
        <p:txBody>
          <a:bodyPr/>
          <a:lstStyle/>
          <a:p>
            <a:fld id="{EECBFD47-4295-4433-A9A9-2DEC90DE0453}" type="datetimeFigureOut">
              <a:rPr lang="en-US" smtClean="0"/>
              <a:t>4/19/2025</a:t>
            </a:fld>
            <a:endParaRPr lang="en-US"/>
          </a:p>
        </p:txBody>
      </p:sp>
      <p:sp>
        <p:nvSpPr>
          <p:cNvPr id="3" name="Footer Placeholder 2">
            <a:extLst>
              <a:ext uri="{FF2B5EF4-FFF2-40B4-BE49-F238E27FC236}">
                <a16:creationId xmlns:a16="http://schemas.microsoft.com/office/drawing/2014/main" id="{34686CA5-AD66-8288-4825-F91439AA85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49A560-8B25-15CF-EF37-B20D95D15D90}"/>
              </a:ext>
            </a:extLst>
          </p:cNvPr>
          <p:cNvSpPr>
            <a:spLocks noGrp="1"/>
          </p:cNvSpPr>
          <p:nvPr>
            <p:ph type="sldNum" sz="quarter" idx="12"/>
          </p:nvPr>
        </p:nvSpPr>
        <p:spPr/>
        <p:txBody>
          <a:bodyPr/>
          <a:lstStyle/>
          <a:p>
            <a:fld id="{F1728FD4-1FAE-4C4E-9949-A27C5F3A398F}" type="slidenum">
              <a:rPr lang="en-US" smtClean="0"/>
              <a:t>‹#›</a:t>
            </a:fld>
            <a:endParaRPr lang="en-US"/>
          </a:p>
        </p:txBody>
      </p:sp>
    </p:spTree>
    <p:extLst>
      <p:ext uri="{BB962C8B-B14F-4D97-AF65-F5344CB8AC3E}">
        <p14:creationId xmlns:p14="http://schemas.microsoft.com/office/powerpoint/2010/main" val="3149723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B0B92-BA9D-5C43-6094-E77E57F460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ECBA227-B833-9514-6E77-4FDA70E972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A94FE9-1A35-F47D-897E-E7F9D7C96C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DC4270-8AB7-AC04-3FB2-59CF943109F2}"/>
              </a:ext>
            </a:extLst>
          </p:cNvPr>
          <p:cNvSpPr>
            <a:spLocks noGrp="1"/>
          </p:cNvSpPr>
          <p:nvPr>
            <p:ph type="dt" sz="half" idx="10"/>
          </p:nvPr>
        </p:nvSpPr>
        <p:spPr/>
        <p:txBody>
          <a:bodyPr/>
          <a:lstStyle/>
          <a:p>
            <a:fld id="{EECBFD47-4295-4433-A9A9-2DEC90DE0453}" type="datetimeFigureOut">
              <a:rPr lang="en-US" smtClean="0"/>
              <a:t>4/19/2025</a:t>
            </a:fld>
            <a:endParaRPr lang="en-US"/>
          </a:p>
        </p:txBody>
      </p:sp>
      <p:sp>
        <p:nvSpPr>
          <p:cNvPr id="6" name="Footer Placeholder 5">
            <a:extLst>
              <a:ext uri="{FF2B5EF4-FFF2-40B4-BE49-F238E27FC236}">
                <a16:creationId xmlns:a16="http://schemas.microsoft.com/office/drawing/2014/main" id="{9A35DF92-2855-89C7-2CC1-077349B93C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041AD7-97A7-3AC0-B45D-273EA1EDC229}"/>
              </a:ext>
            </a:extLst>
          </p:cNvPr>
          <p:cNvSpPr>
            <a:spLocks noGrp="1"/>
          </p:cNvSpPr>
          <p:nvPr>
            <p:ph type="sldNum" sz="quarter" idx="12"/>
          </p:nvPr>
        </p:nvSpPr>
        <p:spPr/>
        <p:txBody>
          <a:bodyPr/>
          <a:lstStyle/>
          <a:p>
            <a:fld id="{F1728FD4-1FAE-4C4E-9949-A27C5F3A398F}" type="slidenum">
              <a:rPr lang="en-US" smtClean="0"/>
              <a:t>‹#›</a:t>
            </a:fld>
            <a:endParaRPr lang="en-US"/>
          </a:p>
        </p:txBody>
      </p:sp>
    </p:spTree>
    <p:extLst>
      <p:ext uri="{BB962C8B-B14F-4D97-AF65-F5344CB8AC3E}">
        <p14:creationId xmlns:p14="http://schemas.microsoft.com/office/powerpoint/2010/main" val="1218276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542CF-D656-447C-2D30-D8A100591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E5CD72-24BC-2333-6D2E-ADF5778835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0DFAE0-9DB3-4BDE-520C-76E8BCCE82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4E88D0-F37C-98AE-1D9D-3FF7043A6618}"/>
              </a:ext>
            </a:extLst>
          </p:cNvPr>
          <p:cNvSpPr>
            <a:spLocks noGrp="1"/>
          </p:cNvSpPr>
          <p:nvPr>
            <p:ph type="dt" sz="half" idx="10"/>
          </p:nvPr>
        </p:nvSpPr>
        <p:spPr/>
        <p:txBody>
          <a:bodyPr/>
          <a:lstStyle/>
          <a:p>
            <a:fld id="{EECBFD47-4295-4433-A9A9-2DEC90DE0453}" type="datetimeFigureOut">
              <a:rPr lang="en-US" smtClean="0"/>
              <a:t>4/19/2025</a:t>
            </a:fld>
            <a:endParaRPr lang="en-US"/>
          </a:p>
        </p:txBody>
      </p:sp>
      <p:sp>
        <p:nvSpPr>
          <p:cNvPr id="6" name="Footer Placeholder 5">
            <a:extLst>
              <a:ext uri="{FF2B5EF4-FFF2-40B4-BE49-F238E27FC236}">
                <a16:creationId xmlns:a16="http://schemas.microsoft.com/office/drawing/2014/main" id="{A1468B25-5645-D27C-6509-EC5C9E68DA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AE13CF-B50D-7B2D-605F-F9842CA665F6}"/>
              </a:ext>
            </a:extLst>
          </p:cNvPr>
          <p:cNvSpPr>
            <a:spLocks noGrp="1"/>
          </p:cNvSpPr>
          <p:nvPr>
            <p:ph type="sldNum" sz="quarter" idx="12"/>
          </p:nvPr>
        </p:nvSpPr>
        <p:spPr/>
        <p:txBody>
          <a:bodyPr/>
          <a:lstStyle/>
          <a:p>
            <a:fld id="{F1728FD4-1FAE-4C4E-9949-A27C5F3A398F}" type="slidenum">
              <a:rPr lang="en-US" smtClean="0"/>
              <a:t>‹#›</a:t>
            </a:fld>
            <a:endParaRPr lang="en-US"/>
          </a:p>
        </p:txBody>
      </p:sp>
    </p:spTree>
    <p:extLst>
      <p:ext uri="{BB962C8B-B14F-4D97-AF65-F5344CB8AC3E}">
        <p14:creationId xmlns:p14="http://schemas.microsoft.com/office/powerpoint/2010/main" val="1243478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6032A-E34A-33EB-DC90-54E0679354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CA9EC5-D63C-4354-D373-6C172B2D76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7D1003-BBC1-CC73-5137-0A27D8FF40C0}"/>
              </a:ext>
            </a:extLst>
          </p:cNvPr>
          <p:cNvSpPr>
            <a:spLocks noGrp="1"/>
          </p:cNvSpPr>
          <p:nvPr>
            <p:ph type="dt" sz="half" idx="10"/>
          </p:nvPr>
        </p:nvSpPr>
        <p:spPr/>
        <p:txBody>
          <a:bodyPr/>
          <a:lstStyle/>
          <a:p>
            <a:fld id="{EECBFD47-4295-4433-A9A9-2DEC90DE0453}" type="datetimeFigureOut">
              <a:rPr lang="en-US" smtClean="0"/>
              <a:t>4/19/2025</a:t>
            </a:fld>
            <a:endParaRPr lang="en-US"/>
          </a:p>
        </p:txBody>
      </p:sp>
      <p:sp>
        <p:nvSpPr>
          <p:cNvPr id="5" name="Footer Placeholder 4">
            <a:extLst>
              <a:ext uri="{FF2B5EF4-FFF2-40B4-BE49-F238E27FC236}">
                <a16:creationId xmlns:a16="http://schemas.microsoft.com/office/drawing/2014/main" id="{4CB1AF87-7108-5EFA-7DFD-6B83CC20DD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3363AB-4522-51D4-2F32-327DB888E783}"/>
              </a:ext>
            </a:extLst>
          </p:cNvPr>
          <p:cNvSpPr>
            <a:spLocks noGrp="1"/>
          </p:cNvSpPr>
          <p:nvPr>
            <p:ph type="sldNum" sz="quarter" idx="12"/>
          </p:nvPr>
        </p:nvSpPr>
        <p:spPr/>
        <p:txBody>
          <a:bodyPr/>
          <a:lstStyle/>
          <a:p>
            <a:fld id="{F1728FD4-1FAE-4C4E-9949-A27C5F3A398F}" type="slidenum">
              <a:rPr lang="en-US" smtClean="0"/>
              <a:t>‹#›</a:t>
            </a:fld>
            <a:endParaRPr lang="en-US"/>
          </a:p>
        </p:txBody>
      </p:sp>
    </p:spTree>
    <p:extLst>
      <p:ext uri="{BB962C8B-B14F-4D97-AF65-F5344CB8AC3E}">
        <p14:creationId xmlns:p14="http://schemas.microsoft.com/office/powerpoint/2010/main" val="4277402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824D7D-944D-EC07-9467-67F188B29D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E2FB2F-32CA-129D-390C-85295AFFBD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D36A41-4C55-0370-5237-C6781C937F4D}"/>
              </a:ext>
            </a:extLst>
          </p:cNvPr>
          <p:cNvSpPr>
            <a:spLocks noGrp="1"/>
          </p:cNvSpPr>
          <p:nvPr>
            <p:ph type="dt" sz="half" idx="10"/>
          </p:nvPr>
        </p:nvSpPr>
        <p:spPr/>
        <p:txBody>
          <a:bodyPr/>
          <a:lstStyle/>
          <a:p>
            <a:fld id="{EECBFD47-4295-4433-A9A9-2DEC90DE0453}" type="datetimeFigureOut">
              <a:rPr lang="en-US" smtClean="0"/>
              <a:t>4/19/2025</a:t>
            </a:fld>
            <a:endParaRPr lang="en-US"/>
          </a:p>
        </p:txBody>
      </p:sp>
      <p:sp>
        <p:nvSpPr>
          <p:cNvPr id="5" name="Footer Placeholder 4">
            <a:extLst>
              <a:ext uri="{FF2B5EF4-FFF2-40B4-BE49-F238E27FC236}">
                <a16:creationId xmlns:a16="http://schemas.microsoft.com/office/drawing/2014/main" id="{DD96DE22-4427-5FF4-A916-98C5DEFFDE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E73EA3-B4BA-E2E6-C48F-55227EF92D2C}"/>
              </a:ext>
            </a:extLst>
          </p:cNvPr>
          <p:cNvSpPr>
            <a:spLocks noGrp="1"/>
          </p:cNvSpPr>
          <p:nvPr>
            <p:ph type="sldNum" sz="quarter" idx="12"/>
          </p:nvPr>
        </p:nvSpPr>
        <p:spPr/>
        <p:txBody>
          <a:bodyPr/>
          <a:lstStyle/>
          <a:p>
            <a:fld id="{F1728FD4-1FAE-4C4E-9949-A27C5F3A398F}" type="slidenum">
              <a:rPr lang="en-US" smtClean="0"/>
              <a:t>‹#›</a:t>
            </a:fld>
            <a:endParaRPr lang="en-US"/>
          </a:p>
        </p:txBody>
      </p:sp>
    </p:spTree>
    <p:extLst>
      <p:ext uri="{BB962C8B-B14F-4D97-AF65-F5344CB8AC3E}">
        <p14:creationId xmlns:p14="http://schemas.microsoft.com/office/powerpoint/2010/main" val="234092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2AC0EB-F4D8-1A47-CD53-C5F876D62D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8234CF-F034-AF83-201A-6A860E1166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53170-C685-1949-5AAE-18028B5195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CBFD47-4295-4433-A9A9-2DEC90DE0453}" type="datetimeFigureOut">
              <a:rPr lang="en-US" smtClean="0"/>
              <a:t>4/19/2025</a:t>
            </a:fld>
            <a:endParaRPr lang="en-US"/>
          </a:p>
        </p:txBody>
      </p:sp>
      <p:sp>
        <p:nvSpPr>
          <p:cNvPr id="5" name="Footer Placeholder 4">
            <a:extLst>
              <a:ext uri="{FF2B5EF4-FFF2-40B4-BE49-F238E27FC236}">
                <a16:creationId xmlns:a16="http://schemas.microsoft.com/office/drawing/2014/main" id="{47C4E47E-1E82-A140-9E33-638393B661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FA5D53E-4A5F-DE90-B3BC-8A0EFBE1CD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728FD4-1FAE-4C4E-9949-A27C5F3A398F}" type="slidenum">
              <a:rPr lang="en-US" smtClean="0"/>
              <a:t>‹#›</a:t>
            </a:fld>
            <a:endParaRPr lang="en-US"/>
          </a:p>
        </p:txBody>
      </p:sp>
    </p:spTree>
    <p:extLst>
      <p:ext uri="{BB962C8B-B14F-4D97-AF65-F5344CB8AC3E}">
        <p14:creationId xmlns:p14="http://schemas.microsoft.com/office/powerpoint/2010/main" val="934647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9D1FD-0F90-0DF3-A50A-BE9B8B1D692B}"/>
              </a:ext>
            </a:extLst>
          </p:cNvPr>
          <p:cNvSpPr>
            <a:spLocks noGrp="1"/>
          </p:cNvSpPr>
          <p:nvPr>
            <p:ph type="ctrTitle"/>
          </p:nvPr>
        </p:nvSpPr>
        <p:spPr/>
        <p:txBody>
          <a:bodyPr/>
          <a:lstStyle/>
          <a:p>
            <a:r>
              <a:rPr lang="en-US"/>
              <a:t>Sorting</a:t>
            </a:r>
          </a:p>
        </p:txBody>
      </p:sp>
      <p:sp>
        <p:nvSpPr>
          <p:cNvPr id="3" name="Subtitle 2">
            <a:extLst>
              <a:ext uri="{FF2B5EF4-FFF2-40B4-BE49-F238E27FC236}">
                <a16:creationId xmlns:a16="http://schemas.microsoft.com/office/drawing/2014/main" id="{5AD41B39-7ABE-AA61-3687-0D16645A7D97}"/>
              </a:ext>
            </a:extLst>
          </p:cNvPr>
          <p:cNvSpPr>
            <a:spLocks noGrp="1"/>
          </p:cNvSpPr>
          <p:nvPr>
            <p:ph type="subTitle" idx="1"/>
          </p:nvPr>
        </p:nvSpPr>
        <p:spPr/>
        <p:txBody>
          <a:bodyPr/>
          <a:lstStyle/>
          <a:p>
            <a:r>
              <a:rPr lang="en-US"/>
              <a:t>Lecture 18</a:t>
            </a:r>
          </a:p>
        </p:txBody>
      </p:sp>
    </p:spTree>
    <p:extLst>
      <p:ext uri="{BB962C8B-B14F-4D97-AF65-F5344CB8AC3E}">
        <p14:creationId xmlns:p14="http://schemas.microsoft.com/office/powerpoint/2010/main" val="2431073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F9BB7-4B4E-17D2-907A-68659DF65A9E}"/>
              </a:ext>
            </a:extLst>
          </p:cNvPr>
          <p:cNvSpPr>
            <a:spLocks noGrp="1"/>
          </p:cNvSpPr>
          <p:nvPr>
            <p:ph type="title"/>
          </p:nvPr>
        </p:nvSpPr>
        <p:spPr/>
        <p:txBody>
          <a:bodyPr/>
          <a:lstStyle/>
          <a:p>
            <a:r>
              <a:rPr lang="en-US"/>
              <a:t>Elementary Sorting Algorithms</a:t>
            </a:r>
          </a:p>
        </p:txBody>
      </p:sp>
      <p:sp>
        <p:nvSpPr>
          <p:cNvPr id="3" name="Content Placeholder 2">
            <a:extLst>
              <a:ext uri="{FF2B5EF4-FFF2-40B4-BE49-F238E27FC236}">
                <a16:creationId xmlns:a16="http://schemas.microsoft.com/office/drawing/2014/main" id="{1824C8C8-B50A-B800-008D-E9D2FE24A92F}"/>
              </a:ext>
            </a:extLst>
          </p:cNvPr>
          <p:cNvSpPr>
            <a:spLocks noGrp="1"/>
          </p:cNvSpPr>
          <p:nvPr>
            <p:ph idx="1"/>
          </p:nvPr>
        </p:nvSpPr>
        <p:spPr/>
        <p:txBody>
          <a:bodyPr/>
          <a:lstStyle/>
          <a:p>
            <a:r>
              <a:rPr lang="en-US"/>
              <a:t>Bubble</a:t>
            </a:r>
          </a:p>
          <a:p>
            <a:pPr lvl="1"/>
            <a:r>
              <a:rPr lang="en-US"/>
              <a:t>Elements "bubble up" into their correct positions, swapping with their neighbor through a list</a:t>
            </a:r>
          </a:p>
          <a:p>
            <a:r>
              <a:rPr lang="en-US"/>
              <a:t>Insertion</a:t>
            </a:r>
          </a:p>
          <a:p>
            <a:pPr lvl="1"/>
            <a:r>
              <a:rPr lang="en-US"/>
              <a:t>Like a hand of playing cards – pick one card at a time and insert it into its correct position among the already sorted elements</a:t>
            </a:r>
          </a:p>
          <a:p>
            <a:r>
              <a:rPr lang="en-US"/>
              <a:t>Selection</a:t>
            </a:r>
          </a:p>
          <a:p>
            <a:pPr lvl="1"/>
            <a:r>
              <a:rPr lang="en-US"/>
              <a:t>Divide the input list into two parts: sorted and unsorted</a:t>
            </a:r>
          </a:p>
          <a:p>
            <a:pPr lvl="1"/>
            <a:r>
              <a:rPr lang="en-US"/>
              <a:t>Find the min (or max) item from the unsorted, and put it at the end of the sorted part</a:t>
            </a:r>
          </a:p>
          <a:p>
            <a:pPr lvl="1"/>
            <a:endParaRPr lang="en-US"/>
          </a:p>
        </p:txBody>
      </p:sp>
    </p:spTree>
    <p:extLst>
      <p:ext uri="{BB962C8B-B14F-4D97-AF65-F5344CB8AC3E}">
        <p14:creationId xmlns:p14="http://schemas.microsoft.com/office/powerpoint/2010/main" val="1523218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5F27E-C26F-02DF-C589-220C4EA7B3BF}"/>
              </a:ext>
            </a:extLst>
          </p:cNvPr>
          <p:cNvSpPr>
            <a:spLocks noGrp="1"/>
          </p:cNvSpPr>
          <p:nvPr>
            <p:ph type="title"/>
          </p:nvPr>
        </p:nvSpPr>
        <p:spPr/>
        <p:txBody>
          <a:bodyPr/>
          <a:lstStyle/>
          <a:p>
            <a:r>
              <a:rPr lang="en-US"/>
              <a:t>Bubble Sort</a:t>
            </a:r>
          </a:p>
        </p:txBody>
      </p:sp>
      <p:sp>
        <p:nvSpPr>
          <p:cNvPr id="3" name="Content Placeholder 2">
            <a:extLst>
              <a:ext uri="{FF2B5EF4-FFF2-40B4-BE49-F238E27FC236}">
                <a16:creationId xmlns:a16="http://schemas.microsoft.com/office/drawing/2014/main" id="{E580CB3F-66DE-97D5-F0E8-760D8E81DFE0}"/>
              </a:ext>
            </a:extLst>
          </p:cNvPr>
          <p:cNvSpPr>
            <a:spLocks noGrp="1"/>
          </p:cNvSpPr>
          <p:nvPr>
            <p:ph idx="1"/>
          </p:nvPr>
        </p:nvSpPr>
        <p:spPr>
          <a:xfrm>
            <a:off x="212557" y="1821990"/>
            <a:ext cx="5719011" cy="4351338"/>
          </a:xfrm>
        </p:spPr>
        <p:txBody>
          <a:bodyPr>
            <a:noAutofit/>
          </a:bodyPr>
          <a:lstStyle/>
          <a:p>
            <a:pPr marL="0" indent="0">
              <a:lnSpc>
                <a:spcPct val="100000"/>
              </a:lnSpc>
              <a:buNone/>
            </a:pPr>
            <a:r>
              <a:rPr lang="en-US" sz="2000">
                <a:latin typeface="Courier New" panose="02070309020205020404" pitchFamily="49" charset="0"/>
                <a:cs typeface="Courier New" panose="02070309020205020404" pitchFamily="49" charset="0"/>
              </a:rPr>
              <a:t>BUBBLE_SORT(A):</a:t>
            </a:r>
          </a:p>
          <a:p>
            <a:pPr marL="0" indent="0">
              <a:lnSpc>
                <a:spcPct val="100000"/>
              </a:lnSpc>
              <a:buNone/>
            </a:pPr>
            <a:r>
              <a:rPr lang="en-US" sz="2000">
                <a:latin typeface="Courier New" panose="02070309020205020404" pitchFamily="49" charset="0"/>
                <a:cs typeface="Courier New" panose="02070309020205020404" pitchFamily="49" charset="0"/>
              </a:rPr>
              <a:t>    n = length(A)</a:t>
            </a:r>
          </a:p>
          <a:p>
            <a:pPr marL="0" indent="0">
              <a:lnSpc>
                <a:spcPct val="100000"/>
              </a:lnSpc>
              <a:buNone/>
            </a:pPr>
            <a:r>
              <a:rPr lang="en-US" sz="2000">
                <a:latin typeface="Courier New" panose="02070309020205020404" pitchFamily="49" charset="0"/>
                <a:cs typeface="Courier New" panose="02070309020205020404" pitchFamily="49" charset="0"/>
              </a:rPr>
              <a:t>    for i = 0 to n-2: #(inclusive)</a:t>
            </a:r>
          </a:p>
          <a:p>
            <a:pPr marL="0" indent="0">
              <a:lnSpc>
                <a:spcPct val="100000"/>
              </a:lnSpc>
              <a:buNone/>
            </a:pPr>
            <a:r>
              <a:rPr lang="en-US" sz="2000">
                <a:latin typeface="Courier New" panose="02070309020205020404" pitchFamily="49" charset="0"/>
                <a:cs typeface="Courier New" panose="02070309020205020404" pitchFamily="49" charset="0"/>
              </a:rPr>
              <a:t>        for j = 0 to n-i-2: #(incl.)</a:t>
            </a:r>
          </a:p>
          <a:p>
            <a:pPr marL="0" indent="0">
              <a:lnSpc>
                <a:spcPct val="100000"/>
              </a:lnSpc>
              <a:buNone/>
            </a:pPr>
            <a:r>
              <a:rPr lang="en-US" sz="2000">
                <a:latin typeface="Courier New" panose="02070309020205020404" pitchFamily="49" charset="0"/>
                <a:cs typeface="Courier New" panose="02070309020205020404" pitchFamily="49" charset="0"/>
              </a:rPr>
              <a:t>            if A[j] &gt; A[j+1]:</a:t>
            </a:r>
          </a:p>
          <a:p>
            <a:pPr marL="0" indent="0">
              <a:lnSpc>
                <a:spcPct val="100000"/>
              </a:lnSpc>
              <a:buNone/>
            </a:pPr>
            <a:r>
              <a:rPr lang="en-US" sz="2000">
                <a:latin typeface="Courier New" panose="02070309020205020404" pitchFamily="49" charset="0"/>
                <a:cs typeface="Courier New" panose="02070309020205020404" pitchFamily="49" charset="0"/>
              </a:rPr>
              <a:t>                swap(A[j], A[j+1])</a:t>
            </a:r>
          </a:p>
        </p:txBody>
      </p:sp>
      <p:sp>
        <p:nvSpPr>
          <p:cNvPr id="6" name="TextBox 5">
            <a:extLst>
              <a:ext uri="{FF2B5EF4-FFF2-40B4-BE49-F238E27FC236}">
                <a16:creationId xmlns:a16="http://schemas.microsoft.com/office/drawing/2014/main" id="{7A4CEABC-C36B-B728-6648-88EAEBA2455B}"/>
              </a:ext>
            </a:extLst>
          </p:cNvPr>
          <p:cNvSpPr txBox="1"/>
          <p:nvPr/>
        </p:nvSpPr>
        <p:spPr>
          <a:xfrm>
            <a:off x="5849351" y="1821990"/>
            <a:ext cx="6342649" cy="2554545"/>
          </a:xfrm>
          <a:prstGeom prst="rect">
            <a:avLst/>
          </a:prstGeom>
          <a:noFill/>
        </p:spPr>
        <p:txBody>
          <a:bodyPr wrap="square" rtlCol="0">
            <a:spAutoFit/>
          </a:bodyPr>
          <a:lstStyle/>
          <a:p>
            <a:r>
              <a:rPr lang="en-US" sz="2000"/>
              <a:t>Outer Loop (i): Each iteration moves the largest unsorted element to its correct position at the end.</a:t>
            </a:r>
          </a:p>
          <a:p>
            <a:endParaRPr lang="en-US" sz="2000"/>
          </a:p>
          <a:p>
            <a:r>
              <a:rPr lang="en-US" sz="2000"/>
              <a:t>Inner Loop (j): Compares adjacent elements A[j] and A[j+1], swapping them if out of order. </a:t>
            </a:r>
          </a:p>
          <a:p>
            <a:endParaRPr lang="en-US" sz="2000"/>
          </a:p>
          <a:p>
            <a:r>
              <a:rPr lang="en-US" sz="2000"/>
              <a:t>Why n-i-2? On later passes, don’t need to continue comparing last elements as they've already been bubbled up.</a:t>
            </a:r>
          </a:p>
        </p:txBody>
      </p:sp>
    </p:spTree>
    <p:extLst>
      <p:ext uri="{BB962C8B-B14F-4D97-AF65-F5344CB8AC3E}">
        <p14:creationId xmlns:p14="http://schemas.microsoft.com/office/powerpoint/2010/main" val="3670388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F3B14-1887-091E-3194-C5C52723D069}"/>
              </a:ext>
            </a:extLst>
          </p:cNvPr>
          <p:cNvSpPr>
            <a:spLocks noGrp="1"/>
          </p:cNvSpPr>
          <p:nvPr>
            <p:ph type="title"/>
          </p:nvPr>
        </p:nvSpPr>
        <p:spPr/>
        <p:txBody>
          <a:bodyPr/>
          <a:lstStyle/>
          <a:p>
            <a:r>
              <a:rPr lang="en-US"/>
              <a:t>Sorting [5, 3, 8, 4, 2]</a:t>
            </a:r>
          </a:p>
        </p:txBody>
      </p:sp>
      <p:graphicFrame>
        <p:nvGraphicFramePr>
          <p:cNvPr id="4" name="Content Placeholder 3">
            <a:extLst>
              <a:ext uri="{FF2B5EF4-FFF2-40B4-BE49-F238E27FC236}">
                <a16:creationId xmlns:a16="http://schemas.microsoft.com/office/drawing/2014/main" id="{B10B863E-B00F-0441-69AD-C1B02FB5A5C7}"/>
              </a:ext>
            </a:extLst>
          </p:cNvPr>
          <p:cNvGraphicFramePr>
            <a:graphicFrameLocks noGrp="1"/>
          </p:cNvGraphicFramePr>
          <p:nvPr>
            <p:ph idx="1"/>
            <p:extLst>
              <p:ext uri="{D42A27DB-BD31-4B8C-83A1-F6EECF244321}">
                <p14:modId xmlns:p14="http://schemas.microsoft.com/office/powerpoint/2010/main" val="2627862902"/>
              </p:ext>
            </p:extLst>
          </p:nvPr>
        </p:nvGraphicFramePr>
        <p:xfrm>
          <a:off x="838200" y="1486152"/>
          <a:ext cx="10515597" cy="4611772"/>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036946060"/>
                    </a:ext>
                  </a:extLst>
                </a:gridCol>
                <a:gridCol w="5791198">
                  <a:extLst>
                    <a:ext uri="{9D8B030D-6E8A-4147-A177-3AD203B41FA5}">
                      <a16:colId xmlns:a16="http://schemas.microsoft.com/office/drawing/2014/main" val="787862368"/>
                    </a:ext>
                  </a:extLst>
                </a:gridCol>
                <a:gridCol w="3505199">
                  <a:extLst>
                    <a:ext uri="{9D8B030D-6E8A-4147-A177-3AD203B41FA5}">
                      <a16:colId xmlns:a16="http://schemas.microsoft.com/office/drawing/2014/main" val="834176242"/>
                    </a:ext>
                  </a:extLst>
                </a:gridCol>
              </a:tblGrid>
              <a:tr h="797126">
                <a:tc>
                  <a:txBody>
                    <a:bodyPr/>
                    <a:lstStyle/>
                    <a:p>
                      <a:r>
                        <a:rPr lang="en-US"/>
                        <a:t>Pass (i)</a:t>
                      </a:r>
                    </a:p>
                  </a:txBody>
                  <a:tcPr/>
                </a:tc>
                <a:tc>
                  <a:txBody>
                    <a:bodyPr/>
                    <a:lstStyle/>
                    <a:p>
                      <a:r>
                        <a:rPr lang="en-US"/>
                        <a:t>Actions</a:t>
                      </a:r>
                    </a:p>
                  </a:txBody>
                  <a:tcPr/>
                </a:tc>
                <a:tc>
                  <a:txBody>
                    <a:bodyPr/>
                    <a:lstStyle/>
                    <a:p>
                      <a:r>
                        <a:rPr lang="en-US"/>
                        <a:t>Results</a:t>
                      </a:r>
                    </a:p>
                  </a:txBody>
                  <a:tcPr/>
                </a:tc>
                <a:extLst>
                  <a:ext uri="{0D108BD9-81ED-4DB2-BD59-A6C34878D82A}">
                    <a16:rowId xmlns:a16="http://schemas.microsoft.com/office/drawing/2014/main" val="3095997713"/>
                  </a:ext>
                </a:extLst>
              </a:tr>
              <a:tr h="797126">
                <a:tc>
                  <a:txBody>
                    <a:bodyPr/>
                    <a:lstStyle/>
                    <a:p>
                      <a:pPr algn="ctr"/>
                      <a:r>
                        <a:rPr lang="en-US"/>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Compare (5, 3), (5, 8), (8, 4), (8, 2)</a:t>
                      </a:r>
                      <a:br>
                        <a:rPr lang="en-US"/>
                      </a:br>
                      <a:r>
                        <a:rPr lang="en-US"/>
                        <a:t>Swaps occur when A &gt; B.</a:t>
                      </a:r>
                    </a:p>
                    <a:p>
                      <a:endParaRPr lang="en-US"/>
                    </a:p>
                  </a:txBody>
                  <a:tcPr/>
                </a:tc>
                <a:tc>
                  <a:txBody>
                    <a:bodyPr/>
                    <a:lstStyle/>
                    <a:p>
                      <a:r>
                        <a:rPr lang="en-US"/>
                        <a:t>[3, 5, 8, 4, 2] – (5, 3) swap</a:t>
                      </a:r>
                    </a:p>
                    <a:p>
                      <a:r>
                        <a:rPr lang="en-US"/>
                        <a:t>[3, 5, 8, 4, 2] – (5, 8) do not swap</a:t>
                      </a:r>
                    </a:p>
                    <a:p>
                      <a:r>
                        <a:rPr lang="en-US"/>
                        <a:t>[3, 5, 4, 8, 2] – (8, 4) swap</a:t>
                      </a:r>
                    </a:p>
                    <a:p>
                      <a:r>
                        <a:rPr lang="en-US"/>
                        <a:t>[3, 5, 4, 2, 8] – (8, 2) swap</a:t>
                      </a:r>
                    </a:p>
                  </a:txBody>
                  <a:tcPr/>
                </a:tc>
                <a:extLst>
                  <a:ext uri="{0D108BD9-81ED-4DB2-BD59-A6C34878D82A}">
                    <a16:rowId xmlns:a16="http://schemas.microsoft.com/office/drawing/2014/main" val="296712270"/>
                  </a:ext>
                </a:extLst>
              </a:tr>
              <a:tr h="797126">
                <a:tc>
                  <a:txBody>
                    <a:bodyPr/>
                    <a:lstStyle/>
                    <a:p>
                      <a:pPr algn="ctr"/>
                      <a:r>
                        <a:rPr lang="en-US"/>
                        <a:t>1</a:t>
                      </a:r>
                    </a:p>
                  </a:txBody>
                  <a:tcPr anchor="ctr"/>
                </a:tc>
                <a:tc>
                  <a:txBody>
                    <a:bodyPr/>
                    <a:lstStyle/>
                    <a:p>
                      <a:r>
                        <a:rPr lang="en-US"/>
                        <a:t>Compare (3, 5), (5, 4), (5, 2).</a:t>
                      </a:r>
                    </a:p>
                    <a:p>
                      <a:r>
                        <a:rPr lang="en-US"/>
                        <a:t>No need to compare (5, 8) as we know from last pass 8 is the max element.</a:t>
                      </a:r>
                    </a:p>
                  </a:txBody>
                  <a:tcPr/>
                </a:tc>
                <a:tc>
                  <a:txBody>
                    <a:bodyPr/>
                    <a:lstStyle/>
                    <a:p>
                      <a:r>
                        <a:rPr lang="en-US"/>
                        <a:t>[3, 5, 4, 2, 8] – (3, 5) do not swap</a:t>
                      </a:r>
                    </a:p>
                    <a:p>
                      <a:r>
                        <a:rPr lang="en-US"/>
                        <a:t>[3, 4, 5, 2, 8] – (5, 4) swap</a:t>
                      </a:r>
                    </a:p>
                    <a:p>
                      <a:r>
                        <a:rPr lang="en-US"/>
                        <a:t>[3, 4, 2, 5, 8] – (5, 2) swap</a:t>
                      </a:r>
                    </a:p>
                  </a:txBody>
                  <a:tcPr/>
                </a:tc>
                <a:extLst>
                  <a:ext uri="{0D108BD9-81ED-4DB2-BD59-A6C34878D82A}">
                    <a16:rowId xmlns:a16="http://schemas.microsoft.com/office/drawing/2014/main" val="920589942"/>
                  </a:ext>
                </a:extLst>
              </a:tr>
              <a:tr h="797126">
                <a:tc>
                  <a:txBody>
                    <a:bodyPr/>
                    <a:lstStyle/>
                    <a:p>
                      <a:pPr algn="ctr"/>
                      <a:r>
                        <a:rPr lang="en-US"/>
                        <a:t>2</a:t>
                      </a:r>
                    </a:p>
                  </a:txBody>
                  <a:tcPr anchor="ctr"/>
                </a:tc>
                <a:tc>
                  <a:txBody>
                    <a:bodyPr/>
                    <a:lstStyle/>
                    <a:p>
                      <a:r>
                        <a:rPr lang="en-US"/>
                        <a:t>Compare (3, 4), (4, 2).</a:t>
                      </a:r>
                    </a:p>
                    <a:p>
                      <a:r>
                        <a:rPr lang="en-US"/>
                        <a:t>We know 5 and 8 are in the right spots already.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[3, 4, 2, 5, 8] – (3, 4) do not swap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[3, 2, 4, 5, 8] – (4, 2) swap</a:t>
                      </a:r>
                    </a:p>
                    <a:p>
                      <a:endParaRPr lang="en-US"/>
                    </a:p>
                  </a:txBody>
                  <a:tcPr/>
                </a:tc>
                <a:extLst>
                  <a:ext uri="{0D108BD9-81ED-4DB2-BD59-A6C34878D82A}">
                    <a16:rowId xmlns:a16="http://schemas.microsoft.com/office/drawing/2014/main" val="635024589"/>
                  </a:ext>
                </a:extLst>
              </a:tr>
              <a:tr h="797126">
                <a:tc>
                  <a:txBody>
                    <a:bodyPr/>
                    <a:lstStyle/>
                    <a:p>
                      <a:pPr algn="ctr"/>
                      <a:r>
                        <a:rPr lang="en-US"/>
                        <a:t>3</a:t>
                      </a:r>
                    </a:p>
                  </a:txBody>
                  <a:tcPr anchor="ctr"/>
                </a:tc>
                <a:tc>
                  <a:txBody>
                    <a:bodyPr/>
                    <a:lstStyle/>
                    <a:p>
                      <a:r>
                        <a:rPr lang="en-US"/>
                        <a:t>Compare (3, 2). We know 4, 5, 8 are correct already.</a:t>
                      </a:r>
                    </a:p>
                  </a:txBody>
                  <a:tcPr/>
                </a:tc>
                <a:tc>
                  <a:txBody>
                    <a:bodyPr/>
                    <a:lstStyle/>
                    <a:p>
                      <a:r>
                        <a:rPr lang="en-US"/>
                        <a:t>[2, 3, 4, 5, 8] – (3, 2) swap</a:t>
                      </a:r>
                    </a:p>
                  </a:txBody>
                  <a:tcPr/>
                </a:tc>
                <a:extLst>
                  <a:ext uri="{0D108BD9-81ED-4DB2-BD59-A6C34878D82A}">
                    <a16:rowId xmlns:a16="http://schemas.microsoft.com/office/drawing/2014/main" val="1172471395"/>
                  </a:ext>
                </a:extLst>
              </a:tr>
            </a:tbl>
          </a:graphicData>
        </a:graphic>
      </p:graphicFrame>
      <p:sp>
        <p:nvSpPr>
          <p:cNvPr id="5" name="TextBox 4">
            <a:extLst>
              <a:ext uri="{FF2B5EF4-FFF2-40B4-BE49-F238E27FC236}">
                <a16:creationId xmlns:a16="http://schemas.microsoft.com/office/drawing/2014/main" id="{663CC706-F081-65F3-37AD-959B2C3646C9}"/>
              </a:ext>
            </a:extLst>
          </p:cNvPr>
          <p:cNvSpPr txBox="1"/>
          <p:nvPr/>
        </p:nvSpPr>
        <p:spPr>
          <a:xfrm>
            <a:off x="980573" y="6223988"/>
            <a:ext cx="11211427" cy="369332"/>
          </a:xfrm>
          <a:prstGeom prst="rect">
            <a:avLst/>
          </a:prstGeom>
          <a:noFill/>
        </p:spPr>
        <p:txBody>
          <a:bodyPr wrap="square" rtlCol="0">
            <a:spAutoFit/>
          </a:bodyPr>
          <a:lstStyle/>
          <a:p>
            <a:r>
              <a:rPr lang="en-US"/>
              <a:t>Note we need n-1 passes to flip the last two potentially unsorted elements. This is our outer loop (0 to n-2).</a:t>
            </a:r>
          </a:p>
        </p:txBody>
      </p:sp>
    </p:spTree>
    <p:extLst>
      <p:ext uri="{BB962C8B-B14F-4D97-AF65-F5344CB8AC3E}">
        <p14:creationId xmlns:p14="http://schemas.microsoft.com/office/powerpoint/2010/main" val="2521005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1335B-72C4-063D-44C1-0D6D7087FD9F}"/>
              </a:ext>
            </a:extLst>
          </p:cNvPr>
          <p:cNvSpPr>
            <a:spLocks noGrp="1"/>
          </p:cNvSpPr>
          <p:nvPr>
            <p:ph type="title"/>
          </p:nvPr>
        </p:nvSpPr>
        <p:spPr/>
        <p:txBody>
          <a:bodyPr/>
          <a:lstStyle/>
          <a:p>
            <a:r>
              <a:rPr lang="en-US"/>
              <a:t>Sorting [5, 1, 3, 2, 4]</a:t>
            </a:r>
          </a:p>
        </p:txBody>
      </p:sp>
      <p:graphicFrame>
        <p:nvGraphicFramePr>
          <p:cNvPr id="4" name="Content Placeholder 3">
            <a:extLst>
              <a:ext uri="{FF2B5EF4-FFF2-40B4-BE49-F238E27FC236}">
                <a16:creationId xmlns:a16="http://schemas.microsoft.com/office/drawing/2014/main" id="{9FA2A58A-14F0-2BF6-47AB-C73E6ED1FE17}"/>
              </a:ext>
            </a:extLst>
          </p:cNvPr>
          <p:cNvGraphicFramePr>
            <a:graphicFrameLocks/>
          </p:cNvGraphicFramePr>
          <p:nvPr>
            <p:extLst>
              <p:ext uri="{D42A27DB-BD31-4B8C-83A1-F6EECF244321}">
                <p14:modId xmlns:p14="http://schemas.microsoft.com/office/powerpoint/2010/main" val="2768873222"/>
              </p:ext>
            </p:extLst>
          </p:nvPr>
        </p:nvGraphicFramePr>
        <p:xfrm>
          <a:off x="838199" y="1401930"/>
          <a:ext cx="10515597" cy="4611772"/>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036946060"/>
                    </a:ext>
                  </a:extLst>
                </a:gridCol>
                <a:gridCol w="5791198">
                  <a:extLst>
                    <a:ext uri="{9D8B030D-6E8A-4147-A177-3AD203B41FA5}">
                      <a16:colId xmlns:a16="http://schemas.microsoft.com/office/drawing/2014/main" val="787862368"/>
                    </a:ext>
                  </a:extLst>
                </a:gridCol>
                <a:gridCol w="3505199">
                  <a:extLst>
                    <a:ext uri="{9D8B030D-6E8A-4147-A177-3AD203B41FA5}">
                      <a16:colId xmlns:a16="http://schemas.microsoft.com/office/drawing/2014/main" val="834176242"/>
                    </a:ext>
                  </a:extLst>
                </a:gridCol>
              </a:tblGrid>
              <a:tr h="797126">
                <a:tc>
                  <a:txBody>
                    <a:bodyPr/>
                    <a:lstStyle/>
                    <a:p>
                      <a:r>
                        <a:rPr lang="en-US"/>
                        <a:t>Pass (i)</a:t>
                      </a:r>
                    </a:p>
                  </a:txBody>
                  <a:tcPr/>
                </a:tc>
                <a:tc>
                  <a:txBody>
                    <a:bodyPr/>
                    <a:lstStyle/>
                    <a:p>
                      <a:r>
                        <a:rPr lang="en-US"/>
                        <a:t>Actions</a:t>
                      </a:r>
                    </a:p>
                  </a:txBody>
                  <a:tcPr/>
                </a:tc>
                <a:tc>
                  <a:txBody>
                    <a:bodyPr/>
                    <a:lstStyle/>
                    <a:p>
                      <a:r>
                        <a:rPr lang="en-US"/>
                        <a:t>Results</a:t>
                      </a:r>
                    </a:p>
                  </a:txBody>
                  <a:tcPr/>
                </a:tc>
                <a:extLst>
                  <a:ext uri="{0D108BD9-81ED-4DB2-BD59-A6C34878D82A}">
                    <a16:rowId xmlns:a16="http://schemas.microsoft.com/office/drawing/2014/main" val="3095997713"/>
                  </a:ext>
                </a:extLst>
              </a:tr>
              <a:tr h="797126">
                <a:tc>
                  <a:txBody>
                    <a:bodyPr/>
                    <a:lstStyle/>
                    <a:p>
                      <a:pPr algn="ctr"/>
                      <a:r>
                        <a:rPr lang="en-US"/>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Compare (5, 1), (5, 3), (5, 2), (5, 4)</a:t>
                      </a:r>
                      <a:br>
                        <a:rPr lang="en-US"/>
                      </a:br>
                      <a:r>
                        <a:rPr lang="en-US"/>
                        <a:t>Swaps occur when A &gt; B.</a:t>
                      </a:r>
                    </a:p>
                    <a:p>
                      <a:endParaRPr lang="en-US"/>
                    </a:p>
                  </a:txBody>
                  <a:tcPr/>
                </a:tc>
                <a:tc>
                  <a:txBody>
                    <a:bodyPr/>
                    <a:lstStyle/>
                    <a:p>
                      <a:r>
                        <a:rPr lang="en-US"/>
                        <a:t>[1, 5, 3, 2, 4] – (1, 5) swap</a:t>
                      </a:r>
                    </a:p>
                    <a:p>
                      <a:r>
                        <a:rPr lang="en-US"/>
                        <a:t>[1, 3, 5, 2, 4] – (5, 3) swap</a:t>
                      </a:r>
                    </a:p>
                    <a:p>
                      <a:r>
                        <a:rPr lang="en-US"/>
                        <a:t>[1, 3, 2, 5, 4] – (5, 2) swap</a:t>
                      </a:r>
                    </a:p>
                    <a:p>
                      <a:r>
                        <a:rPr lang="en-US"/>
                        <a:t>[1, 3, 2, 4, 5] – (5, 4) swap</a:t>
                      </a:r>
                    </a:p>
                  </a:txBody>
                  <a:tcPr/>
                </a:tc>
                <a:extLst>
                  <a:ext uri="{0D108BD9-81ED-4DB2-BD59-A6C34878D82A}">
                    <a16:rowId xmlns:a16="http://schemas.microsoft.com/office/drawing/2014/main" val="296712270"/>
                  </a:ext>
                </a:extLst>
              </a:tr>
              <a:tr h="797126">
                <a:tc>
                  <a:txBody>
                    <a:bodyPr/>
                    <a:lstStyle/>
                    <a:p>
                      <a:pPr algn="ctr"/>
                      <a:r>
                        <a:rPr lang="en-US"/>
                        <a:t>1</a:t>
                      </a:r>
                    </a:p>
                  </a:txBody>
                  <a:tcPr anchor="ctr"/>
                </a:tc>
                <a:tc>
                  <a:txBody>
                    <a:bodyPr/>
                    <a:lstStyle/>
                    <a:p>
                      <a:r>
                        <a:rPr lang="en-US"/>
                        <a:t>Compare (1, 3), (3, 2), (3, 4).</a:t>
                      </a:r>
                    </a:p>
                    <a:p>
                      <a:r>
                        <a:rPr lang="en-US"/>
                        <a:t>No need to compare (4, 5) as we know from last pass 5 is the max element.</a:t>
                      </a:r>
                    </a:p>
                  </a:txBody>
                  <a:tcPr/>
                </a:tc>
                <a:tc>
                  <a:txBody>
                    <a:bodyPr/>
                    <a:lstStyle/>
                    <a:p>
                      <a:r>
                        <a:rPr lang="en-US"/>
                        <a:t>[1, 3, 2, 4, 5] – (1, 3) do not swap</a:t>
                      </a:r>
                    </a:p>
                    <a:p>
                      <a:r>
                        <a:rPr lang="en-US"/>
                        <a:t>[1, 2, 3, 4, 5] – (3, 2) swap</a:t>
                      </a:r>
                    </a:p>
                    <a:p>
                      <a:r>
                        <a:rPr lang="en-US"/>
                        <a:t>[1, 2, 3, 4, 5] – (3, 4) do not swap</a:t>
                      </a:r>
                    </a:p>
                  </a:txBody>
                  <a:tcPr/>
                </a:tc>
                <a:extLst>
                  <a:ext uri="{0D108BD9-81ED-4DB2-BD59-A6C34878D82A}">
                    <a16:rowId xmlns:a16="http://schemas.microsoft.com/office/drawing/2014/main" val="920589942"/>
                  </a:ext>
                </a:extLst>
              </a:tr>
              <a:tr h="797126">
                <a:tc>
                  <a:txBody>
                    <a:bodyPr/>
                    <a:lstStyle/>
                    <a:p>
                      <a:pPr algn="ctr"/>
                      <a:r>
                        <a:rPr lang="en-US"/>
                        <a:t>2</a:t>
                      </a:r>
                    </a:p>
                  </a:txBody>
                  <a:tcPr anchor="ctr"/>
                </a:tc>
                <a:tc>
                  <a:txBody>
                    <a:bodyPr/>
                    <a:lstStyle/>
                    <a:p>
                      <a:r>
                        <a:rPr lang="en-US"/>
                        <a:t>Compare (1, 2), (2, 3).</a:t>
                      </a:r>
                    </a:p>
                    <a:p>
                      <a:r>
                        <a:rPr lang="en-US"/>
                        <a:t>We know 4 and 5 are in the right spots already.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 (1, 2) do not swap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 (2, 3) do not swap</a:t>
                      </a:r>
                    </a:p>
                    <a:p>
                      <a:endParaRPr lang="en-US"/>
                    </a:p>
                  </a:txBody>
                  <a:tcPr/>
                </a:tc>
                <a:extLst>
                  <a:ext uri="{0D108BD9-81ED-4DB2-BD59-A6C34878D82A}">
                    <a16:rowId xmlns:a16="http://schemas.microsoft.com/office/drawing/2014/main" val="635024589"/>
                  </a:ext>
                </a:extLst>
              </a:tr>
              <a:tr h="797126">
                <a:tc>
                  <a:txBody>
                    <a:bodyPr/>
                    <a:lstStyle/>
                    <a:p>
                      <a:pPr algn="ctr"/>
                      <a:r>
                        <a:rPr lang="en-US"/>
                        <a:t>3</a:t>
                      </a:r>
                    </a:p>
                  </a:txBody>
                  <a:tcPr anchor="ctr"/>
                </a:tc>
                <a:tc>
                  <a:txBody>
                    <a:bodyPr/>
                    <a:lstStyle/>
                    <a:p>
                      <a:r>
                        <a:rPr lang="en-US"/>
                        <a:t>Compare (1, 2). We know 3, 4, 5 are correct already.</a:t>
                      </a:r>
                    </a:p>
                  </a:txBody>
                  <a:tcPr/>
                </a:tc>
                <a:tc>
                  <a:txBody>
                    <a:bodyPr/>
                    <a:lstStyle/>
                    <a:p>
                      <a:r>
                        <a:rPr lang="en-US"/>
                        <a:t>[1, 2, 3, 4, 5] – (1, 2) do not swap</a:t>
                      </a:r>
                    </a:p>
                  </a:txBody>
                  <a:tcPr/>
                </a:tc>
                <a:extLst>
                  <a:ext uri="{0D108BD9-81ED-4DB2-BD59-A6C34878D82A}">
                    <a16:rowId xmlns:a16="http://schemas.microsoft.com/office/drawing/2014/main" val="1172471395"/>
                  </a:ext>
                </a:extLst>
              </a:tr>
            </a:tbl>
          </a:graphicData>
        </a:graphic>
      </p:graphicFrame>
      <p:sp>
        <p:nvSpPr>
          <p:cNvPr id="5" name="TextBox 4">
            <a:extLst>
              <a:ext uri="{FF2B5EF4-FFF2-40B4-BE49-F238E27FC236}">
                <a16:creationId xmlns:a16="http://schemas.microsoft.com/office/drawing/2014/main" id="{C22B12DC-96CC-6010-4C96-99700A9F3717}"/>
              </a:ext>
            </a:extLst>
          </p:cNvPr>
          <p:cNvSpPr txBox="1"/>
          <p:nvPr/>
        </p:nvSpPr>
        <p:spPr>
          <a:xfrm>
            <a:off x="838198" y="6123543"/>
            <a:ext cx="10515597" cy="646331"/>
          </a:xfrm>
          <a:prstGeom prst="rect">
            <a:avLst/>
          </a:prstGeom>
          <a:noFill/>
        </p:spPr>
        <p:txBody>
          <a:bodyPr wrap="square" rtlCol="0">
            <a:spAutoFit/>
          </a:bodyPr>
          <a:lstStyle/>
          <a:p>
            <a:r>
              <a:rPr lang="en-US"/>
              <a:t>Note: We did two wholly unnecessary passes, as the array was sorted by the end of pass (i=1).</a:t>
            </a:r>
          </a:p>
          <a:p>
            <a:r>
              <a:rPr lang="en-US"/>
              <a:t>All of the elements after the position of the last swap are guaranteed to be sorted! How can we optimize?</a:t>
            </a:r>
          </a:p>
        </p:txBody>
      </p:sp>
    </p:spTree>
    <p:extLst>
      <p:ext uri="{BB962C8B-B14F-4D97-AF65-F5344CB8AC3E}">
        <p14:creationId xmlns:p14="http://schemas.microsoft.com/office/powerpoint/2010/main" val="3353605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99B57-E63E-75E5-21CA-5FA8A00B027C}"/>
              </a:ext>
            </a:extLst>
          </p:cNvPr>
          <p:cNvSpPr>
            <a:spLocks noGrp="1"/>
          </p:cNvSpPr>
          <p:nvPr>
            <p:ph type="title"/>
          </p:nvPr>
        </p:nvSpPr>
        <p:spPr/>
        <p:txBody>
          <a:bodyPr/>
          <a:lstStyle/>
          <a:p>
            <a:r>
              <a:rPr lang="en-US"/>
              <a:t>Calculate Bubble Sort Time Complexity</a:t>
            </a:r>
          </a:p>
        </p:txBody>
      </p:sp>
      <p:sp>
        <p:nvSpPr>
          <p:cNvPr id="3" name="Content Placeholder 2">
            <a:extLst>
              <a:ext uri="{FF2B5EF4-FFF2-40B4-BE49-F238E27FC236}">
                <a16:creationId xmlns:a16="http://schemas.microsoft.com/office/drawing/2014/main" id="{2F1E3576-5D82-56D7-B308-4D1698F3BF65}"/>
              </a:ext>
            </a:extLst>
          </p:cNvPr>
          <p:cNvSpPr>
            <a:spLocks noGrp="1"/>
          </p:cNvSpPr>
          <p:nvPr>
            <p:ph idx="1"/>
          </p:nvPr>
        </p:nvSpPr>
        <p:spPr/>
        <p:txBody>
          <a:bodyPr/>
          <a:lstStyle/>
          <a:p>
            <a:r>
              <a:rPr lang="en-US"/>
              <a:t>How many comparisons for a list of size n?</a:t>
            </a:r>
          </a:p>
          <a:p>
            <a:pPr lvl="1"/>
            <a:r>
              <a:rPr lang="en-US"/>
              <a:t>First iteration: n-1 comparisons</a:t>
            </a:r>
          </a:p>
          <a:p>
            <a:pPr lvl="1"/>
            <a:r>
              <a:rPr lang="en-US"/>
              <a:t>Second iteration: n-2 comparisons</a:t>
            </a:r>
          </a:p>
          <a:p>
            <a:pPr lvl="1"/>
            <a:r>
              <a:rPr lang="en-US"/>
              <a:t>Third iteration: n-3 comparisons</a:t>
            </a:r>
          </a:p>
          <a:p>
            <a:pPr lvl="1"/>
            <a:r>
              <a:rPr lang="en-US"/>
              <a:t>…</a:t>
            </a:r>
          </a:p>
          <a:p>
            <a:pPr lvl="1"/>
            <a:r>
              <a:rPr lang="en-US"/>
              <a:t>(n-1)th iteration: 1 comparison</a:t>
            </a:r>
          </a:p>
          <a:p>
            <a:r>
              <a:rPr lang="en-US"/>
              <a:t>n-1 + n-2 + … + 1 = ?</a:t>
            </a:r>
          </a:p>
          <a:p>
            <a:pPr lvl="1"/>
            <a:r>
              <a:rPr lang="en-US"/>
              <a:t>Pair first and last elements until meeting at the middle: (n-1 + 1), (n-2 + 2), …</a:t>
            </a:r>
          </a:p>
          <a:p>
            <a:pPr lvl="1"/>
            <a:r>
              <a:rPr lang="en-US"/>
              <a:t>How many pairs of elements? (n-1)/2 </a:t>
            </a:r>
          </a:p>
          <a:p>
            <a:pPr lvl="1"/>
            <a:r>
              <a:rPr lang="en-US"/>
              <a:t>Sum of each pair of elements? n</a:t>
            </a:r>
          </a:p>
          <a:p>
            <a:pPr lvl="1"/>
            <a:r>
              <a:rPr lang="en-US"/>
              <a:t>n*(n-1)/2 = O(n^2)</a:t>
            </a:r>
          </a:p>
          <a:p>
            <a:pPr lvl="1"/>
            <a:endParaRPr lang="en-US"/>
          </a:p>
          <a:p>
            <a:pPr lvl="1"/>
            <a:endParaRPr lang="en-US"/>
          </a:p>
        </p:txBody>
      </p:sp>
    </p:spTree>
    <p:extLst>
      <p:ext uri="{BB962C8B-B14F-4D97-AF65-F5344CB8AC3E}">
        <p14:creationId xmlns:p14="http://schemas.microsoft.com/office/powerpoint/2010/main" val="964276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710E1-0ECF-2F72-F700-FDBAFED0C888}"/>
              </a:ext>
            </a:extLst>
          </p:cNvPr>
          <p:cNvSpPr>
            <a:spLocks noGrp="1"/>
          </p:cNvSpPr>
          <p:nvPr>
            <p:ph type="title"/>
          </p:nvPr>
        </p:nvSpPr>
        <p:spPr/>
        <p:txBody>
          <a:bodyPr/>
          <a:lstStyle/>
          <a:p>
            <a:r>
              <a:rPr lang="en-US"/>
              <a:t>Bounds of Bubble Sort</a:t>
            </a:r>
          </a:p>
        </p:txBody>
      </p:sp>
      <p:sp>
        <p:nvSpPr>
          <p:cNvPr id="3" name="Content Placeholder 2">
            <a:extLst>
              <a:ext uri="{FF2B5EF4-FFF2-40B4-BE49-F238E27FC236}">
                <a16:creationId xmlns:a16="http://schemas.microsoft.com/office/drawing/2014/main" id="{067CA2DA-B451-5AF9-4090-8545294CD273}"/>
              </a:ext>
            </a:extLst>
          </p:cNvPr>
          <p:cNvSpPr>
            <a:spLocks noGrp="1"/>
          </p:cNvSpPr>
          <p:nvPr>
            <p:ph idx="1"/>
          </p:nvPr>
        </p:nvSpPr>
        <p:spPr/>
        <p:txBody>
          <a:bodyPr/>
          <a:lstStyle/>
          <a:p>
            <a:r>
              <a:rPr lang="en-US"/>
              <a:t>Best case? No early exit. Always doing O(n^2) comparisons.</a:t>
            </a:r>
          </a:p>
          <a:p>
            <a:r>
              <a:rPr lang="en-US"/>
              <a:t>Average case? No skips. Always doing O(n^2) comparisons.</a:t>
            </a:r>
          </a:p>
          <a:p>
            <a:r>
              <a:rPr lang="en-US"/>
              <a:t>Worst case? No setbacks. Always doing O(n^2) comparisons.</a:t>
            </a:r>
          </a:p>
          <a:p>
            <a:r>
              <a:rPr lang="en-US"/>
              <a:t>We can say this is tightly bounded, so </a:t>
            </a:r>
            <a:r>
              <a:rPr lang="el-GR"/>
              <a:t>ϴ</a:t>
            </a:r>
            <a:r>
              <a:rPr lang="en-US"/>
              <a:t>(n^2).</a:t>
            </a:r>
          </a:p>
        </p:txBody>
      </p:sp>
      <p:pic>
        <p:nvPicPr>
          <p:cNvPr id="2050" name="Picture 2" descr="Bubble Sort time complexity">
            <a:extLst>
              <a:ext uri="{FF2B5EF4-FFF2-40B4-BE49-F238E27FC236}">
                <a16:creationId xmlns:a16="http://schemas.microsoft.com/office/drawing/2014/main" id="{5F4E2ADC-79FF-354F-8C8B-D60D334B79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8515" y="3856915"/>
            <a:ext cx="3476625" cy="2895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344A0E8-95A5-8C9A-B6A3-72A697D5C5D2}"/>
              </a:ext>
            </a:extLst>
          </p:cNvPr>
          <p:cNvSpPr txBox="1"/>
          <p:nvPr/>
        </p:nvSpPr>
        <p:spPr>
          <a:xfrm>
            <a:off x="7102440" y="5135438"/>
            <a:ext cx="6803859" cy="338554"/>
          </a:xfrm>
          <a:prstGeom prst="rect">
            <a:avLst/>
          </a:prstGeom>
          <a:noFill/>
        </p:spPr>
        <p:txBody>
          <a:bodyPr wrap="square" rtlCol="0">
            <a:spAutoFit/>
          </a:bodyPr>
          <a:lstStyle/>
          <a:p>
            <a:r>
              <a:rPr lang="en-US" sz="1600"/>
              <a:t>https://www.w3schools.com/dsa/dsa_algo_bubblesort.php</a:t>
            </a:r>
          </a:p>
        </p:txBody>
      </p:sp>
    </p:spTree>
    <p:extLst>
      <p:ext uri="{BB962C8B-B14F-4D97-AF65-F5344CB8AC3E}">
        <p14:creationId xmlns:p14="http://schemas.microsoft.com/office/powerpoint/2010/main" val="1460639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91FE-72AA-B369-67CA-26EAD44F3647}"/>
              </a:ext>
            </a:extLst>
          </p:cNvPr>
          <p:cNvSpPr>
            <a:spLocks noGrp="1"/>
          </p:cNvSpPr>
          <p:nvPr>
            <p:ph type="title"/>
          </p:nvPr>
        </p:nvSpPr>
        <p:spPr/>
        <p:txBody>
          <a:bodyPr/>
          <a:lstStyle/>
          <a:p>
            <a:r>
              <a:rPr lang="en-US"/>
              <a:t>Insertion Sort</a:t>
            </a:r>
          </a:p>
        </p:txBody>
      </p:sp>
      <p:sp>
        <p:nvSpPr>
          <p:cNvPr id="3" name="Content Placeholder 2">
            <a:extLst>
              <a:ext uri="{FF2B5EF4-FFF2-40B4-BE49-F238E27FC236}">
                <a16:creationId xmlns:a16="http://schemas.microsoft.com/office/drawing/2014/main" id="{82FE0C6C-4695-012A-A2F1-0007ADB3DAE3}"/>
              </a:ext>
            </a:extLst>
          </p:cNvPr>
          <p:cNvSpPr>
            <a:spLocks noGrp="1"/>
          </p:cNvSpPr>
          <p:nvPr>
            <p:ph idx="1"/>
          </p:nvPr>
        </p:nvSpPr>
        <p:spPr>
          <a:xfrm>
            <a:off x="332874" y="1522246"/>
            <a:ext cx="11401926" cy="4351338"/>
          </a:xfrm>
        </p:spPr>
        <p:txBody>
          <a:bodyPr/>
          <a:lstStyle/>
          <a:p>
            <a:r>
              <a:rPr lang="en-US"/>
              <a:t>Take the first element in the unsorted part of the array, and insert at the correct position in the sorted part of the array. </a:t>
            </a:r>
          </a:p>
          <a:p>
            <a:r>
              <a:rPr lang="en-US"/>
              <a:t>First element is the starting "sorted" array, rest will be unsorted.</a:t>
            </a:r>
          </a:p>
        </p:txBody>
      </p:sp>
      <p:sp>
        <p:nvSpPr>
          <p:cNvPr id="4" name="TextBox 3">
            <a:extLst>
              <a:ext uri="{FF2B5EF4-FFF2-40B4-BE49-F238E27FC236}">
                <a16:creationId xmlns:a16="http://schemas.microsoft.com/office/drawing/2014/main" id="{7DC71B85-E533-C115-C4DD-A53DE41F87BA}"/>
              </a:ext>
            </a:extLst>
          </p:cNvPr>
          <p:cNvSpPr txBox="1"/>
          <p:nvPr/>
        </p:nvSpPr>
        <p:spPr>
          <a:xfrm>
            <a:off x="332874" y="2932030"/>
            <a:ext cx="12254163" cy="3693319"/>
          </a:xfrm>
          <a:prstGeom prst="rect">
            <a:avLst/>
          </a:prstGeom>
          <a:noFill/>
        </p:spPr>
        <p:txBody>
          <a:bodyPr wrap="square" rtlCol="0">
            <a:spAutoFit/>
          </a:bodyPr>
          <a:lstStyle/>
          <a:p>
            <a:r>
              <a:rPr lang="en-US">
                <a:latin typeface="Courier New" panose="02070309020205020404" pitchFamily="49" charset="0"/>
                <a:cs typeface="Courier New" panose="02070309020205020404" pitchFamily="49" charset="0"/>
              </a:rPr>
              <a:t>INSERTION_SORT(A):</a:t>
            </a:r>
          </a:p>
          <a:p>
            <a:r>
              <a:rPr lang="en-US">
                <a:latin typeface="Courier New" panose="02070309020205020404" pitchFamily="49" charset="0"/>
                <a:cs typeface="Courier New" panose="02070309020205020404" pitchFamily="49" charset="0"/>
              </a:rPr>
              <a:t>    n = length(A)</a:t>
            </a:r>
          </a:p>
          <a:p>
            <a:r>
              <a:rPr lang="en-US">
                <a:latin typeface="Courier New" panose="02070309020205020404" pitchFamily="49" charset="0"/>
                <a:cs typeface="Courier New" panose="02070309020205020404" pitchFamily="49" charset="0"/>
              </a:rPr>
              <a:t>    </a:t>
            </a:r>
          </a:p>
          <a:p>
            <a:r>
              <a:rPr lang="en-US">
                <a:latin typeface="Courier New" panose="02070309020205020404" pitchFamily="49" charset="0"/>
                <a:cs typeface="Courier New" panose="02070309020205020404" pitchFamily="49" charset="0"/>
              </a:rPr>
              <a:t>    for i = 1 to n-1:                # Start from the 2nd element (index 1)</a:t>
            </a:r>
          </a:p>
          <a:p>
            <a:r>
              <a:rPr lang="en-US">
                <a:latin typeface="Courier New" panose="02070309020205020404" pitchFamily="49" charset="0"/>
                <a:cs typeface="Courier New" panose="02070309020205020404" pitchFamily="49" charset="0"/>
              </a:rPr>
              <a:t>        key = A[i]                   # Current element to insert</a:t>
            </a:r>
          </a:p>
          <a:p>
            <a:r>
              <a:rPr lang="en-US">
                <a:latin typeface="Courier New" panose="02070309020205020404" pitchFamily="49" charset="0"/>
                <a:cs typeface="Courier New" panose="02070309020205020404" pitchFamily="49" charset="0"/>
              </a:rPr>
              <a:t>        j = i - 1                    # Start comparing with the previous element</a:t>
            </a:r>
          </a:p>
          <a:p>
            <a:r>
              <a:rPr lang="en-US">
                <a:latin typeface="Courier New" panose="02070309020205020404" pitchFamily="49" charset="0"/>
                <a:cs typeface="Courier New" panose="02070309020205020404" pitchFamily="49" charset="0"/>
              </a:rPr>
              <a:t>        </a:t>
            </a:r>
          </a:p>
          <a:p>
            <a:r>
              <a:rPr lang="en-US">
                <a:latin typeface="Courier New" panose="02070309020205020404" pitchFamily="49" charset="0"/>
                <a:cs typeface="Courier New" panose="02070309020205020404" pitchFamily="49" charset="0"/>
              </a:rPr>
              <a:t>        # Shift elements greater than 'key' to the right</a:t>
            </a:r>
          </a:p>
          <a:p>
            <a:r>
              <a:rPr lang="en-US">
                <a:latin typeface="Courier New" panose="02070309020205020404" pitchFamily="49" charset="0"/>
                <a:cs typeface="Courier New" panose="02070309020205020404" pitchFamily="49" charset="0"/>
              </a:rPr>
              <a:t>        while j &gt;= 0 and A[j] &gt; key:</a:t>
            </a:r>
          </a:p>
          <a:p>
            <a:r>
              <a:rPr lang="en-US">
                <a:latin typeface="Courier New" panose="02070309020205020404" pitchFamily="49" charset="0"/>
                <a:cs typeface="Courier New" panose="02070309020205020404" pitchFamily="49" charset="0"/>
              </a:rPr>
              <a:t>            A[j + 1] = A[j]          # Move larger element up</a:t>
            </a:r>
          </a:p>
          <a:p>
            <a:r>
              <a:rPr lang="en-US">
                <a:latin typeface="Courier New" panose="02070309020205020404" pitchFamily="49" charset="0"/>
                <a:cs typeface="Courier New" panose="02070309020205020404" pitchFamily="49" charset="0"/>
              </a:rPr>
              <a:t>            j = j - 1</a:t>
            </a:r>
          </a:p>
          <a:p>
            <a:r>
              <a:rPr lang="en-US">
                <a:latin typeface="Courier New" panose="02070309020205020404" pitchFamily="49" charset="0"/>
                <a:cs typeface="Courier New" panose="02070309020205020404" pitchFamily="49" charset="0"/>
              </a:rPr>
              <a:t>        </a:t>
            </a:r>
          </a:p>
          <a:p>
            <a:r>
              <a:rPr lang="en-US">
                <a:latin typeface="Courier New" panose="02070309020205020404" pitchFamily="49" charset="0"/>
                <a:cs typeface="Courier New" panose="02070309020205020404" pitchFamily="49" charset="0"/>
              </a:rPr>
              <a:t>        A[j + 1] = key               # Insert 'key' in its correct position</a:t>
            </a:r>
          </a:p>
        </p:txBody>
      </p:sp>
    </p:spTree>
    <p:extLst>
      <p:ext uri="{BB962C8B-B14F-4D97-AF65-F5344CB8AC3E}">
        <p14:creationId xmlns:p14="http://schemas.microsoft.com/office/powerpoint/2010/main" val="1934130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A80EC-D7A4-EF62-37E7-FC487D59F63F}"/>
              </a:ext>
            </a:extLst>
          </p:cNvPr>
          <p:cNvSpPr>
            <a:spLocks noGrp="1"/>
          </p:cNvSpPr>
          <p:nvPr>
            <p:ph type="title"/>
          </p:nvPr>
        </p:nvSpPr>
        <p:spPr/>
        <p:txBody>
          <a:bodyPr/>
          <a:lstStyle/>
          <a:p>
            <a:r>
              <a:rPr lang="en-US"/>
              <a:t>Sorting [4, 2, 3, 5, 1], rep'd as [4 | 2, 3, 5, 1] </a:t>
            </a:r>
          </a:p>
        </p:txBody>
      </p:sp>
      <p:graphicFrame>
        <p:nvGraphicFramePr>
          <p:cNvPr id="4" name="Content Placeholder 3">
            <a:extLst>
              <a:ext uri="{FF2B5EF4-FFF2-40B4-BE49-F238E27FC236}">
                <a16:creationId xmlns:a16="http://schemas.microsoft.com/office/drawing/2014/main" id="{37E9714F-43F5-26D4-6EC5-9816784CE26D}"/>
              </a:ext>
            </a:extLst>
          </p:cNvPr>
          <p:cNvGraphicFramePr>
            <a:graphicFrameLocks noGrp="1"/>
          </p:cNvGraphicFramePr>
          <p:nvPr>
            <p:ph idx="1"/>
            <p:extLst>
              <p:ext uri="{D42A27DB-BD31-4B8C-83A1-F6EECF244321}">
                <p14:modId xmlns:p14="http://schemas.microsoft.com/office/powerpoint/2010/main" val="829502295"/>
              </p:ext>
            </p:extLst>
          </p:nvPr>
        </p:nvGraphicFramePr>
        <p:xfrm>
          <a:off x="838200" y="1825625"/>
          <a:ext cx="10515596" cy="3759200"/>
        </p:xfrm>
        <a:graphic>
          <a:graphicData uri="http://schemas.openxmlformats.org/drawingml/2006/table">
            <a:tbl>
              <a:tblPr firstRow="1" bandRow="1">
                <a:tableStyleId>{5C22544A-7EE6-4342-B048-85BDC9FD1C3A}</a:tableStyleId>
              </a:tblPr>
              <a:tblGrid>
                <a:gridCol w="954505">
                  <a:extLst>
                    <a:ext uri="{9D8B030D-6E8A-4147-A177-3AD203B41FA5}">
                      <a16:colId xmlns:a16="http://schemas.microsoft.com/office/drawing/2014/main" val="3171327666"/>
                    </a:ext>
                  </a:extLst>
                </a:gridCol>
                <a:gridCol w="577516">
                  <a:extLst>
                    <a:ext uri="{9D8B030D-6E8A-4147-A177-3AD203B41FA5}">
                      <a16:colId xmlns:a16="http://schemas.microsoft.com/office/drawing/2014/main" val="3943609107"/>
                    </a:ext>
                  </a:extLst>
                </a:gridCol>
                <a:gridCol w="4102768">
                  <a:extLst>
                    <a:ext uri="{9D8B030D-6E8A-4147-A177-3AD203B41FA5}">
                      <a16:colId xmlns:a16="http://schemas.microsoft.com/office/drawing/2014/main" val="4033719817"/>
                    </a:ext>
                  </a:extLst>
                </a:gridCol>
                <a:gridCol w="4880807">
                  <a:extLst>
                    <a:ext uri="{9D8B030D-6E8A-4147-A177-3AD203B41FA5}">
                      <a16:colId xmlns:a16="http://schemas.microsoft.com/office/drawing/2014/main" val="3299520765"/>
                    </a:ext>
                  </a:extLst>
                </a:gridCol>
              </a:tblGrid>
              <a:tr h="370840">
                <a:tc>
                  <a:txBody>
                    <a:bodyPr/>
                    <a:lstStyle/>
                    <a:p>
                      <a:r>
                        <a:rPr lang="en-US"/>
                        <a:t>Pass (i)</a:t>
                      </a:r>
                    </a:p>
                  </a:txBody>
                  <a:tcPr/>
                </a:tc>
                <a:tc>
                  <a:txBody>
                    <a:bodyPr/>
                    <a:lstStyle/>
                    <a:p>
                      <a:r>
                        <a:rPr lang="en-US"/>
                        <a:t>Key</a:t>
                      </a:r>
                    </a:p>
                  </a:txBody>
                  <a:tcPr/>
                </a:tc>
                <a:tc>
                  <a:txBody>
                    <a:bodyPr/>
                    <a:lstStyle/>
                    <a:p>
                      <a:r>
                        <a:rPr lang="en-US"/>
                        <a:t>Actions</a:t>
                      </a:r>
                    </a:p>
                  </a:txBody>
                  <a:tcPr/>
                </a:tc>
                <a:tc>
                  <a:txBody>
                    <a:bodyPr/>
                    <a:lstStyle/>
                    <a:p>
                      <a:r>
                        <a:rPr lang="en-US"/>
                        <a:t>Results</a:t>
                      </a:r>
                    </a:p>
                  </a:txBody>
                  <a:tcPr/>
                </a:tc>
                <a:extLst>
                  <a:ext uri="{0D108BD9-81ED-4DB2-BD59-A6C34878D82A}">
                    <a16:rowId xmlns:a16="http://schemas.microsoft.com/office/drawing/2014/main" val="2685149174"/>
                  </a:ext>
                </a:extLst>
              </a:tr>
              <a:tr h="370840">
                <a:tc>
                  <a:txBody>
                    <a:bodyPr/>
                    <a:lstStyle/>
                    <a:p>
                      <a:pPr algn="ctr"/>
                      <a:r>
                        <a:rPr lang="en-US"/>
                        <a:t>1</a:t>
                      </a:r>
                    </a:p>
                  </a:txBody>
                  <a:tcPr anchor="ctr"/>
                </a:tc>
                <a:tc>
                  <a:txBody>
                    <a:bodyPr/>
                    <a:lstStyle/>
                    <a:p>
                      <a:pPr algn="ctr"/>
                      <a:r>
                        <a:rPr lang="en-US"/>
                        <a:t>2</a:t>
                      </a:r>
                    </a:p>
                  </a:txBody>
                  <a:tcPr anchor="ctr"/>
                </a:tc>
                <a:tc>
                  <a:txBody>
                    <a:bodyPr/>
                    <a:lstStyle/>
                    <a:p>
                      <a:r>
                        <a:rPr lang="en-US"/>
                        <a:t>Compare (4, 2).</a:t>
                      </a:r>
                    </a:p>
                    <a:p>
                      <a:r>
                        <a:rPr lang="en-US"/>
                        <a:t>Shift sorted elements right while A &gt; Key.</a:t>
                      </a:r>
                    </a:p>
                    <a:p>
                      <a:r>
                        <a:rPr lang="en-US"/>
                        <a:t>Then set element into position.</a:t>
                      </a:r>
                    </a:p>
                  </a:txBody>
                  <a:tcPr/>
                </a:tc>
                <a:tc>
                  <a:txBody>
                    <a:bodyPr/>
                    <a:lstStyle/>
                    <a:p>
                      <a:r>
                        <a:rPr lang="en-US"/>
                        <a:t>j = 0: Shift 4 to the right. [4, 4| 3, 5, 1]</a:t>
                      </a:r>
                    </a:p>
                    <a:p>
                      <a:r>
                        <a:rPr lang="en-US"/>
                        <a:t>j = -1: Put 2 into j+1. [2, 4| 3, 5, 1]</a:t>
                      </a:r>
                    </a:p>
                  </a:txBody>
                  <a:tcPr/>
                </a:tc>
                <a:extLst>
                  <a:ext uri="{0D108BD9-81ED-4DB2-BD59-A6C34878D82A}">
                    <a16:rowId xmlns:a16="http://schemas.microsoft.com/office/drawing/2014/main" val="4082931558"/>
                  </a:ext>
                </a:extLst>
              </a:tr>
              <a:tr h="370840">
                <a:tc>
                  <a:txBody>
                    <a:bodyPr/>
                    <a:lstStyle/>
                    <a:p>
                      <a:pPr algn="ctr"/>
                      <a:r>
                        <a:rPr lang="en-US"/>
                        <a:t>2</a:t>
                      </a:r>
                    </a:p>
                  </a:txBody>
                  <a:tcPr anchor="ctr"/>
                </a:tc>
                <a:tc>
                  <a:txBody>
                    <a:bodyPr/>
                    <a:lstStyle/>
                    <a:p>
                      <a:pPr algn="ctr"/>
                      <a:r>
                        <a:rPr lang="en-US"/>
                        <a:t>3</a:t>
                      </a:r>
                    </a:p>
                  </a:txBody>
                  <a:tcPr anchor="ctr"/>
                </a:tc>
                <a:tc>
                  <a:txBody>
                    <a:bodyPr/>
                    <a:lstStyle/>
                    <a:p>
                      <a:r>
                        <a:rPr lang="en-US"/>
                        <a:t>Compare (4, 3).</a:t>
                      </a:r>
                      <a:br>
                        <a:rPr lang="en-US"/>
                      </a:br>
                      <a:r>
                        <a:rPr lang="en-US"/>
                        <a:t>Compare (2, 3).</a:t>
                      </a:r>
                    </a:p>
                  </a:txBody>
                  <a:tcPr/>
                </a:tc>
                <a:tc>
                  <a:txBody>
                    <a:bodyPr/>
                    <a:lstStyle/>
                    <a:p>
                      <a:r>
                        <a:rPr lang="en-US"/>
                        <a:t>j = 1: Shift 4 to the right. [2, 4, 4| 5, 1]</a:t>
                      </a:r>
                    </a:p>
                    <a:p>
                      <a:r>
                        <a:rPr lang="en-US"/>
                        <a:t>j = 0: Put 3 into j+1. [2, 3, 4| 5, 1]</a:t>
                      </a:r>
                    </a:p>
                  </a:txBody>
                  <a:tcPr/>
                </a:tc>
                <a:extLst>
                  <a:ext uri="{0D108BD9-81ED-4DB2-BD59-A6C34878D82A}">
                    <a16:rowId xmlns:a16="http://schemas.microsoft.com/office/drawing/2014/main" val="3942647760"/>
                  </a:ext>
                </a:extLst>
              </a:tr>
              <a:tr h="370840">
                <a:tc>
                  <a:txBody>
                    <a:bodyPr/>
                    <a:lstStyle/>
                    <a:p>
                      <a:pPr algn="ctr"/>
                      <a:r>
                        <a:rPr lang="en-US"/>
                        <a:t>3</a:t>
                      </a:r>
                    </a:p>
                  </a:txBody>
                  <a:tcPr anchor="ctr"/>
                </a:tc>
                <a:tc>
                  <a:txBody>
                    <a:bodyPr/>
                    <a:lstStyle/>
                    <a:p>
                      <a:pPr algn="ctr"/>
                      <a:r>
                        <a:rPr lang="en-US"/>
                        <a:t>5</a:t>
                      </a:r>
                    </a:p>
                  </a:txBody>
                  <a:tcPr anchor="ctr"/>
                </a:tc>
                <a:tc>
                  <a:txBody>
                    <a:bodyPr/>
                    <a:lstStyle/>
                    <a:p>
                      <a:r>
                        <a:rPr lang="en-US"/>
                        <a:t>Compare (4, 5).</a:t>
                      </a:r>
                    </a:p>
                  </a:txBody>
                  <a:tcPr/>
                </a:tc>
                <a:tc>
                  <a:txBody>
                    <a:bodyPr/>
                    <a:lstStyle/>
                    <a:p>
                      <a:r>
                        <a:rPr lang="en-US"/>
                        <a:t>j = 2: Put 5 into j+1. [2, 3, 4, 5| 1]</a:t>
                      </a:r>
                    </a:p>
                  </a:txBody>
                  <a:tcPr/>
                </a:tc>
                <a:extLst>
                  <a:ext uri="{0D108BD9-81ED-4DB2-BD59-A6C34878D82A}">
                    <a16:rowId xmlns:a16="http://schemas.microsoft.com/office/drawing/2014/main" val="1861960366"/>
                  </a:ext>
                </a:extLst>
              </a:tr>
              <a:tr h="370840">
                <a:tc>
                  <a:txBody>
                    <a:bodyPr/>
                    <a:lstStyle/>
                    <a:p>
                      <a:pPr algn="ctr"/>
                      <a:r>
                        <a:rPr lang="en-US"/>
                        <a:t>4</a:t>
                      </a:r>
                    </a:p>
                  </a:txBody>
                  <a:tcPr anchor="ctr"/>
                </a:tc>
                <a:tc>
                  <a:txBody>
                    <a:bodyPr/>
                    <a:lstStyle/>
                    <a:p>
                      <a:pPr algn="ctr"/>
                      <a:r>
                        <a:rPr lang="en-US"/>
                        <a:t>1</a:t>
                      </a:r>
                    </a:p>
                  </a:txBody>
                  <a:tcPr anchor="ctr"/>
                </a:tc>
                <a:tc>
                  <a:txBody>
                    <a:bodyPr/>
                    <a:lstStyle/>
                    <a:p>
                      <a:r>
                        <a:rPr lang="en-US"/>
                        <a:t>Compare (5, 1).</a:t>
                      </a:r>
                    </a:p>
                    <a:p>
                      <a:r>
                        <a:rPr lang="en-US"/>
                        <a:t>Compare (4, 1).</a:t>
                      </a:r>
                    </a:p>
                    <a:p>
                      <a:r>
                        <a:rPr lang="en-US"/>
                        <a:t>Compare (3, 1).</a:t>
                      </a:r>
                    </a:p>
                    <a:p>
                      <a:r>
                        <a:rPr lang="en-US"/>
                        <a:t>Compare (2, 1).</a:t>
                      </a:r>
                    </a:p>
                  </a:txBody>
                  <a:tcPr/>
                </a:tc>
                <a:tc>
                  <a:txBody>
                    <a:bodyPr/>
                    <a:lstStyle/>
                    <a:p>
                      <a:r>
                        <a:rPr lang="en-US"/>
                        <a:t>j = 3: Shift 5 to the right. [2, 3, 4, 5, 5|]</a:t>
                      </a:r>
                    </a:p>
                    <a:p>
                      <a:r>
                        <a:rPr lang="en-US"/>
                        <a:t>j = 2: Shift 4 to the right. [2, 3, 4, 4, 5|]</a:t>
                      </a:r>
                    </a:p>
                    <a:p>
                      <a:r>
                        <a:rPr lang="en-US"/>
                        <a:t>j = 1: Shift 3 to the right. [2, 3, 3, 4, 5|]</a:t>
                      </a:r>
                    </a:p>
                    <a:p>
                      <a:r>
                        <a:rPr lang="en-US"/>
                        <a:t>j = 0: Shift 2 to the right. [2, 2, 3, 4, 5|]</a:t>
                      </a:r>
                    </a:p>
                    <a:p>
                      <a:r>
                        <a:rPr lang="en-US"/>
                        <a:t>j = -1: Put 1 into j+1. [1, 2, 3, 4, 5|]</a:t>
                      </a:r>
                    </a:p>
                  </a:txBody>
                  <a:tcPr/>
                </a:tc>
                <a:extLst>
                  <a:ext uri="{0D108BD9-81ED-4DB2-BD59-A6C34878D82A}">
                    <a16:rowId xmlns:a16="http://schemas.microsoft.com/office/drawing/2014/main" val="1103467482"/>
                  </a:ext>
                </a:extLst>
              </a:tr>
            </a:tbl>
          </a:graphicData>
        </a:graphic>
      </p:graphicFrame>
      <p:sp>
        <p:nvSpPr>
          <p:cNvPr id="5" name="TextBox 4">
            <a:extLst>
              <a:ext uri="{FF2B5EF4-FFF2-40B4-BE49-F238E27FC236}">
                <a16:creationId xmlns:a16="http://schemas.microsoft.com/office/drawing/2014/main" id="{0BD5C026-A2B3-08A9-DE75-4DFA2371EDFE}"/>
              </a:ext>
            </a:extLst>
          </p:cNvPr>
          <p:cNvSpPr txBox="1"/>
          <p:nvPr/>
        </p:nvSpPr>
        <p:spPr>
          <a:xfrm>
            <a:off x="838199" y="5719762"/>
            <a:ext cx="9653337" cy="646331"/>
          </a:xfrm>
          <a:prstGeom prst="rect">
            <a:avLst/>
          </a:prstGeom>
          <a:noFill/>
        </p:spPr>
        <p:txBody>
          <a:bodyPr wrap="square" rtlCol="0">
            <a:spAutoFit/>
          </a:bodyPr>
          <a:lstStyle/>
          <a:p>
            <a:r>
              <a:rPr lang="en-US"/>
              <a:t>Once more, n-1 passes are required. This is our outer loop (1 to n-1).</a:t>
            </a:r>
            <a:br>
              <a:rPr lang="en-US"/>
            </a:br>
            <a:r>
              <a:rPr lang="en-US"/>
              <a:t>When adding the new max element to the sorted list, 1 comparison. Adding min takes n-1 comparisons. </a:t>
            </a:r>
          </a:p>
        </p:txBody>
      </p:sp>
    </p:spTree>
    <p:extLst>
      <p:ext uri="{BB962C8B-B14F-4D97-AF65-F5344CB8AC3E}">
        <p14:creationId xmlns:p14="http://schemas.microsoft.com/office/powerpoint/2010/main" val="605093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92328-4A7B-C543-13C6-152479747470}"/>
              </a:ext>
            </a:extLst>
          </p:cNvPr>
          <p:cNvSpPr>
            <a:spLocks noGrp="1"/>
          </p:cNvSpPr>
          <p:nvPr>
            <p:ph type="title"/>
          </p:nvPr>
        </p:nvSpPr>
        <p:spPr/>
        <p:txBody>
          <a:bodyPr/>
          <a:lstStyle/>
          <a:p>
            <a:r>
              <a:rPr lang="en-US"/>
              <a:t>Sorting [1 | 5, 2, 4, 3]</a:t>
            </a:r>
          </a:p>
        </p:txBody>
      </p:sp>
      <p:graphicFrame>
        <p:nvGraphicFramePr>
          <p:cNvPr id="4" name="Content Placeholder 3">
            <a:extLst>
              <a:ext uri="{FF2B5EF4-FFF2-40B4-BE49-F238E27FC236}">
                <a16:creationId xmlns:a16="http://schemas.microsoft.com/office/drawing/2014/main" id="{31C807F8-645A-D646-A302-DB80D075D5F8}"/>
              </a:ext>
            </a:extLst>
          </p:cNvPr>
          <p:cNvGraphicFramePr>
            <a:graphicFrameLocks noGrp="1"/>
          </p:cNvGraphicFramePr>
          <p:nvPr>
            <p:ph idx="1"/>
            <p:extLst>
              <p:ext uri="{D42A27DB-BD31-4B8C-83A1-F6EECF244321}">
                <p14:modId xmlns:p14="http://schemas.microsoft.com/office/powerpoint/2010/main" val="2210851561"/>
              </p:ext>
            </p:extLst>
          </p:nvPr>
        </p:nvGraphicFramePr>
        <p:xfrm>
          <a:off x="838200" y="1825625"/>
          <a:ext cx="10515596" cy="3479800"/>
        </p:xfrm>
        <a:graphic>
          <a:graphicData uri="http://schemas.openxmlformats.org/drawingml/2006/table">
            <a:tbl>
              <a:tblPr firstRow="1" bandRow="1">
                <a:tableStyleId>{5C22544A-7EE6-4342-B048-85BDC9FD1C3A}</a:tableStyleId>
              </a:tblPr>
              <a:tblGrid>
                <a:gridCol w="954505">
                  <a:extLst>
                    <a:ext uri="{9D8B030D-6E8A-4147-A177-3AD203B41FA5}">
                      <a16:colId xmlns:a16="http://schemas.microsoft.com/office/drawing/2014/main" val="45045157"/>
                    </a:ext>
                  </a:extLst>
                </a:gridCol>
                <a:gridCol w="577516">
                  <a:extLst>
                    <a:ext uri="{9D8B030D-6E8A-4147-A177-3AD203B41FA5}">
                      <a16:colId xmlns:a16="http://schemas.microsoft.com/office/drawing/2014/main" val="1484638916"/>
                    </a:ext>
                  </a:extLst>
                </a:gridCol>
                <a:gridCol w="4102768">
                  <a:extLst>
                    <a:ext uri="{9D8B030D-6E8A-4147-A177-3AD203B41FA5}">
                      <a16:colId xmlns:a16="http://schemas.microsoft.com/office/drawing/2014/main" val="1132226580"/>
                    </a:ext>
                  </a:extLst>
                </a:gridCol>
                <a:gridCol w="4880807">
                  <a:extLst>
                    <a:ext uri="{9D8B030D-6E8A-4147-A177-3AD203B41FA5}">
                      <a16:colId xmlns:a16="http://schemas.microsoft.com/office/drawing/2014/main" val="1928660213"/>
                    </a:ext>
                  </a:extLst>
                </a:gridCol>
              </a:tblGrid>
              <a:tr h="370840">
                <a:tc>
                  <a:txBody>
                    <a:bodyPr/>
                    <a:lstStyle/>
                    <a:p>
                      <a:r>
                        <a:rPr lang="en-US"/>
                        <a:t>Pass (i)</a:t>
                      </a:r>
                    </a:p>
                  </a:txBody>
                  <a:tcPr/>
                </a:tc>
                <a:tc>
                  <a:txBody>
                    <a:bodyPr/>
                    <a:lstStyle/>
                    <a:p>
                      <a:r>
                        <a:rPr lang="en-US"/>
                        <a:t>Key</a:t>
                      </a:r>
                    </a:p>
                  </a:txBody>
                  <a:tcPr/>
                </a:tc>
                <a:tc>
                  <a:txBody>
                    <a:bodyPr/>
                    <a:lstStyle/>
                    <a:p>
                      <a:r>
                        <a:rPr lang="en-US"/>
                        <a:t>Actions</a:t>
                      </a:r>
                    </a:p>
                  </a:txBody>
                  <a:tcPr/>
                </a:tc>
                <a:tc>
                  <a:txBody>
                    <a:bodyPr/>
                    <a:lstStyle/>
                    <a:p>
                      <a:r>
                        <a:rPr lang="en-US"/>
                        <a:t>Results</a:t>
                      </a:r>
                    </a:p>
                  </a:txBody>
                  <a:tcPr/>
                </a:tc>
                <a:extLst>
                  <a:ext uri="{0D108BD9-81ED-4DB2-BD59-A6C34878D82A}">
                    <a16:rowId xmlns:a16="http://schemas.microsoft.com/office/drawing/2014/main" val="3198416036"/>
                  </a:ext>
                </a:extLst>
              </a:tr>
              <a:tr h="370840">
                <a:tc>
                  <a:txBody>
                    <a:bodyPr/>
                    <a:lstStyle/>
                    <a:p>
                      <a:pPr algn="ctr"/>
                      <a:r>
                        <a:rPr lang="en-US"/>
                        <a:t>1</a:t>
                      </a:r>
                    </a:p>
                  </a:txBody>
                  <a:tcPr anchor="ctr"/>
                </a:tc>
                <a:tc>
                  <a:txBody>
                    <a:bodyPr/>
                    <a:lstStyle/>
                    <a:p>
                      <a:pPr algn="ctr"/>
                      <a:r>
                        <a:rPr lang="en-US"/>
                        <a:t>5</a:t>
                      </a:r>
                    </a:p>
                  </a:txBody>
                  <a:tcPr anchor="ctr"/>
                </a:tc>
                <a:tc>
                  <a:txBody>
                    <a:bodyPr/>
                    <a:lstStyle/>
                    <a:p>
                      <a:r>
                        <a:rPr lang="en-US"/>
                        <a:t>Compare (1, 5).</a:t>
                      </a:r>
                    </a:p>
                    <a:p>
                      <a:r>
                        <a:rPr lang="en-US"/>
                        <a:t>Shift sorted element right while A &gt; Key.</a:t>
                      </a:r>
                    </a:p>
                    <a:p>
                      <a:r>
                        <a:rPr lang="en-US"/>
                        <a:t>Then set element into position.</a:t>
                      </a:r>
                    </a:p>
                  </a:txBody>
                  <a:tcPr/>
                </a:tc>
                <a:tc>
                  <a:txBody>
                    <a:bodyPr/>
                    <a:lstStyle/>
                    <a:p>
                      <a:r>
                        <a:rPr lang="en-US"/>
                        <a:t>j = 0: Put 5 into j+1. [1, 5| 2, 4, 3]</a:t>
                      </a:r>
                    </a:p>
                  </a:txBody>
                  <a:tcPr/>
                </a:tc>
                <a:extLst>
                  <a:ext uri="{0D108BD9-81ED-4DB2-BD59-A6C34878D82A}">
                    <a16:rowId xmlns:a16="http://schemas.microsoft.com/office/drawing/2014/main" val="1195586039"/>
                  </a:ext>
                </a:extLst>
              </a:tr>
              <a:tr h="370840">
                <a:tc>
                  <a:txBody>
                    <a:bodyPr/>
                    <a:lstStyle/>
                    <a:p>
                      <a:pPr algn="ctr"/>
                      <a:r>
                        <a:rPr lang="en-US"/>
                        <a:t>2</a:t>
                      </a:r>
                    </a:p>
                  </a:txBody>
                  <a:tcPr anchor="ctr"/>
                </a:tc>
                <a:tc>
                  <a:txBody>
                    <a:bodyPr/>
                    <a:lstStyle/>
                    <a:p>
                      <a:pPr algn="ctr"/>
                      <a:r>
                        <a:rPr lang="en-US"/>
                        <a:t>2</a:t>
                      </a:r>
                    </a:p>
                  </a:txBody>
                  <a:tcPr anchor="ctr"/>
                </a:tc>
                <a:tc>
                  <a:txBody>
                    <a:bodyPr/>
                    <a:lstStyle/>
                    <a:p>
                      <a:r>
                        <a:rPr lang="en-US"/>
                        <a:t>Compare (5, 2).</a:t>
                      </a:r>
                      <a:br>
                        <a:rPr lang="en-US"/>
                      </a:br>
                      <a:r>
                        <a:rPr lang="en-US"/>
                        <a:t>Compare (1, 2).</a:t>
                      </a:r>
                    </a:p>
                  </a:txBody>
                  <a:tcPr/>
                </a:tc>
                <a:tc>
                  <a:txBody>
                    <a:bodyPr/>
                    <a:lstStyle/>
                    <a:p>
                      <a:r>
                        <a:rPr lang="en-US"/>
                        <a:t>j = 1: Shift 5 to the right. [1, 5, 5| 4, 3]</a:t>
                      </a:r>
                    </a:p>
                    <a:p>
                      <a:r>
                        <a:rPr lang="en-US"/>
                        <a:t>j = 0: Put 2 into j+1. [1, 2, 5| 4, 3]</a:t>
                      </a:r>
                    </a:p>
                  </a:txBody>
                  <a:tcPr/>
                </a:tc>
                <a:extLst>
                  <a:ext uri="{0D108BD9-81ED-4DB2-BD59-A6C34878D82A}">
                    <a16:rowId xmlns:a16="http://schemas.microsoft.com/office/drawing/2014/main" val="4239719189"/>
                  </a:ext>
                </a:extLst>
              </a:tr>
              <a:tr h="370840">
                <a:tc>
                  <a:txBody>
                    <a:bodyPr/>
                    <a:lstStyle/>
                    <a:p>
                      <a:pPr algn="ctr"/>
                      <a:r>
                        <a:rPr lang="en-US"/>
                        <a:t>3</a:t>
                      </a:r>
                    </a:p>
                  </a:txBody>
                  <a:tcPr anchor="ctr"/>
                </a:tc>
                <a:tc>
                  <a:txBody>
                    <a:bodyPr/>
                    <a:lstStyle/>
                    <a:p>
                      <a:pPr algn="ctr"/>
                      <a:r>
                        <a:rPr lang="en-US"/>
                        <a:t>4</a:t>
                      </a:r>
                    </a:p>
                  </a:txBody>
                  <a:tcPr anchor="ctr"/>
                </a:tc>
                <a:tc>
                  <a:txBody>
                    <a:bodyPr/>
                    <a:lstStyle/>
                    <a:p>
                      <a:r>
                        <a:rPr lang="en-US"/>
                        <a:t>Compare (5, 4).</a:t>
                      </a:r>
                    </a:p>
                    <a:p>
                      <a:r>
                        <a:rPr lang="en-US"/>
                        <a:t>Compare (3, 4).</a:t>
                      </a:r>
                    </a:p>
                  </a:txBody>
                  <a:tcPr/>
                </a:tc>
                <a:tc>
                  <a:txBody>
                    <a:bodyPr/>
                    <a:lstStyle/>
                    <a:p>
                      <a:r>
                        <a:rPr lang="en-US"/>
                        <a:t>j = 2: Shift 5 to the right. [1, 2, 5, 5| 3]</a:t>
                      </a:r>
                    </a:p>
                    <a:p>
                      <a:r>
                        <a:rPr lang="en-US"/>
                        <a:t>j = 1: Put 4 into j+1. [1, 2, 4, 5| 3]</a:t>
                      </a:r>
                    </a:p>
                  </a:txBody>
                  <a:tcPr/>
                </a:tc>
                <a:extLst>
                  <a:ext uri="{0D108BD9-81ED-4DB2-BD59-A6C34878D82A}">
                    <a16:rowId xmlns:a16="http://schemas.microsoft.com/office/drawing/2014/main" val="4250380733"/>
                  </a:ext>
                </a:extLst>
              </a:tr>
              <a:tr h="370840">
                <a:tc>
                  <a:txBody>
                    <a:bodyPr/>
                    <a:lstStyle/>
                    <a:p>
                      <a:pPr algn="ctr"/>
                      <a:r>
                        <a:rPr lang="en-US"/>
                        <a:t>4</a:t>
                      </a:r>
                    </a:p>
                  </a:txBody>
                  <a:tcPr anchor="ctr"/>
                </a:tc>
                <a:tc>
                  <a:txBody>
                    <a:bodyPr/>
                    <a:lstStyle/>
                    <a:p>
                      <a:pPr algn="ctr"/>
                      <a:r>
                        <a:rPr lang="en-US"/>
                        <a:t>3</a:t>
                      </a:r>
                    </a:p>
                  </a:txBody>
                  <a:tcPr anchor="ctr"/>
                </a:tc>
                <a:tc>
                  <a:txBody>
                    <a:bodyPr/>
                    <a:lstStyle/>
                    <a:p>
                      <a:r>
                        <a:rPr lang="en-US"/>
                        <a:t>Compare (5, 3).</a:t>
                      </a:r>
                    </a:p>
                    <a:p>
                      <a:r>
                        <a:rPr lang="en-US"/>
                        <a:t>Compare (4, 3).</a:t>
                      </a:r>
                    </a:p>
                    <a:p>
                      <a:r>
                        <a:rPr lang="en-US"/>
                        <a:t>Compare (2, 3).</a:t>
                      </a:r>
                    </a:p>
                  </a:txBody>
                  <a:tcPr/>
                </a:tc>
                <a:tc>
                  <a:txBody>
                    <a:bodyPr/>
                    <a:lstStyle/>
                    <a:p>
                      <a:r>
                        <a:rPr lang="en-US"/>
                        <a:t>j = 3: Shift 5 to the right. [1, 2, 4, 5, 5|]</a:t>
                      </a:r>
                    </a:p>
                    <a:p>
                      <a:r>
                        <a:rPr lang="en-US"/>
                        <a:t>j = 2: Shift 4 to the right. [1, 2, 4, 4, 5|]</a:t>
                      </a:r>
                    </a:p>
                    <a:p>
                      <a:r>
                        <a:rPr lang="en-US"/>
                        <a:t>j = 1: Put 3 into j+1. [1, 2, 3, 4, 5|]</a:t>
                      </a:r>
                    </a:p>
                  </a:txBody>
                  <a:tcPr/>
                </a:tc>
                <a:extLst>
                  <a:ext uri="{0D108BD9-81ED-4DB2-BD59-A6C34878D82A}">
                    <a16:rowId xmlns:a16="http://schemas.microsoft.com/office/drawing/2014/main" val="617411677"/>
                  </a:ext>
                </a:extLst>
              </a:tr>
            </a:tbl>
          </a:graphicData>
        </a:graphic>
      </p:graphicFrame>
    </p:spTree>
    <p:extLst>
      <p:ext uri="{BB962C8B-B14F-4D97-AF65-F5344CB8AC3E}">
        <p14:creationId xmlns:p14="http://schemas.microsoft.com/office/powerpoint/2010/main" val="4124099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85C18-50ED-EAF4-1C19-BAE4C9B5D1F2}"/>
              </a:ext>
            </a:extLst>
          </p:cNvPr>
          <p:cNvSpPr>
            <a:spLocks noGrp="1"/>
          </p:cNvSpPr>
          <p:nvPr>
            <p:ph type="title"/>
          </p:nvPr>
        </p:nvSpPr>
        <p:spPr/>
        <p:txBody>
          <a:bodyPr/>
          <a:lstStyle/>
          <a:p>
            <a:r>
              <a:rPr lang="en-US"/>
              <a:t>Calculate Insertion Sort Time Complexity</a:t>
            </a:r>
          </a:p>
        </p:txBody>
      </p:sp>
      <p:sp>
        <p:nvSpPr>
          <p:cNvPr id="3" name="Content Placeholder 2">
            <a:extLst>
              <a:ext uri="{FF2B5EF4-FFF2-40B4-BE49-F238E27FC236}">
                <a16:creationId xmlns:a16="http://schemas.microsoft.com/office/drawing/2014/main" id="{6BE35A7F-BF4F-05B9-0636-B972AAF3581B}"/>
              </a:ext>
            </a:extLst>
          </p:cNvPr>
          <p:cNvSpPr>
            <a:spLocks noGrp="1"/>
          </p:cNvSpPr>
          <p:nvPr>
            <p:ph idx="1"/>
          </p:nvPr>
        </p:nvSpPr>
        <p:spPr>
          <a:xfrm>
            <a:off x="838200" y="1825624"/>
            <a:ext cx="11506200" cy="5032375"/>
          </a:xfrm>
        </p:spPr>
        <p:txBody>
          <a:bodyPr/>
          <a:lstStyle/>
          <a:p>
            <a:r>
              <a:rPr lang="en-US"/>
              <a:t>How many comparisons for a list of size n?</a:t>
            </a:r>
          </a:p>
          <a:p>
            <a:pPr lvl="1"/>
            <a:r>
              <a:rPr lang="en-US"/>
              <a:t>Well, now it depends.</a:t>
            </a:r>
          </a:p>
          <a:p>
            <a:pPr lvl="1"/>
            <a:r>
              <a:rPr lang="en-US"/>
              <a:t>Best case? One comparison every pass.</a:t>
            </a:r>
          </a:p>
          <a:p>
            <a:pPr lvl="1"/>
            <a:r>
              <a:rPr lang="en-US"/>
              <a:t>Worst case? </a:t>
            </a:r>
            <a:r>
              <a:rPr lang="en-US">
                <a:solidFill>
                  <a:srgbClr val="FF0000"/>
                </a:solidFill>
              </a:rPr>
              <a:t>i</a:t>
            </a:r>
            <a:r>
              <a:rPr lang="en-US"/>
              <a:t> comparisons every pass.</a:t>
            </a:r>
          </a:p>
          <a:p>
            <a:pPr lvl="1"/>
            <a:r>
              <a:rPr lang="en-US"/>
              <a:t>Average case? (i+1)/2 comparisons every pass.</a:t>
            </a:r>
          </a:p>
          <a:p>
            <a:pPr lvl="1"/>
            <a:r>
              <a:rPr lang="en-US"/>
              <a:t>Always n-1 passes.</a:t>
            </a:r>
          </a:p>
          <a:p>
            <a:r>
              <a:rPr lang="en-US"/>
              <a:t>What's the result?</a:t>
            </a:r>
          </a:p>
          <a:p>
            <a:pPr lvl="1"/>
            <a:r>
              <a:rPr lang="en-US"/>
              <a:t>Best case: 1*(n-1) = O(n)</a:t>
            </a:r>
          </a:p>
          <a:p>
            <a:pPr lvl="1"/>
            <a:r>
              <a:rPr lang="en-US"/>
              <a:t>Worst case: 1 + 2 + … + n-1, already known to be n(n-1)/2 = O(n^2)</a:t>
            </a:r>
          </a:p>
          <a:p>
            <a:pPr lvl="1"/>
            <a:r>
              <a:rPr lang="en-US"/>
              <a:t>Average Case:1/2 + 2/2 + … + (n-1)/2, can pull out the 1/2 to get (1/2)*(n(n-1)/2).</a:t>
            </a:r>
          </a:p>
          <a:p>
            <a:pPr lvl="2"/>
            <a:r>
              <a:rPr lang="en-US"/>
              <a:t>This gets us n(n-1)/4, which is still O(n^2).</a:t>
            </a:r>
          </a:p>
          <a:p>
            <a:pPr lvl="2"/>
            <a:r>
              <a:rPr lang="en-US"/>
              <a:t>Since O is worse case, we take the O(n^2). We can say best case </a:t>
            </a:r>
            <a:r>
              <a:rPr lang="el-GR"/>
              <a:t>Ω</a:t>
            </a:r>
            <a:r>
              <a:rPr lang="en-US"/>
              <a:t>(n).</a:t>
            </a:r>
          </a:p>
        </p:txBody>
      </p:sp>
    </p:spTree>
    <p:extLst>
      <p:ext uri="{BB962C8B-B14F-4D97-AF65-F5344CB8AC3E}">
        <p14:creationId xmlns:p14="http://schemas.microsoft.com/office/powerpoint/2010/main" val="1000116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3AA0B-EB4C-C1C3-17D5-76581CD6F7B6}"/>
              </a:ext>
            </a:extLst>
          </p:cNvPr>
          <p:cNvSpPr>
            <a:spLocks noGrp="1"/>
          </p:cNvSpPr>
          <p:nvPr>
            <p:ph type="title"/>
          </p:nvPr>
        </p:nvSpPr>
        <p:spPr/>
        <p:txBody>
          <a:bodyPr/>
          <a:lstStyle/>
          <a:p>
            <a:r>
              <a:rPr lang="en-US"/>
              <a:t>Bounds of Insertion Sort</a:t>
            </a:r>
          </a:p>
        </p:txBody>
      </p:sp>
      <p:sp>
        <p:nvSpPr>
          <p:cNvPr id="3" name="Content Placeholder 2">
            <a:extLst>
              <a:ext uri="{FF2B5EF4-FFF2-40B4-BE49-F238E27FC236}">
                <a16:creationId xmlns:a16="http://schemas.microsoft.com/office/drawing/2014/main" id="{A919DA2F-326F-E5CE-7804-D1353B9ACEE1}"/>
              </a:ext>
            </a:extLst>
          </p:cNvPr>
          <p:cNvSpPr>
            <a:spLocks noGrp="1"/>
          </p:cNvSpPr>
          <p:nvPr>
            <p:ph idx="1"/>
          </p:nvPr>
        </p:nvSpPr>
        <p:spPr>
          <a:xfrm>
            <a:off x="838200" y="1825625"/>
            <a:ext cx="10515600" cy="2277143"/>
          </a:xfrm>
        </p:spPr>
        <p:txBody>
          <a:bodyPr/>
          <a:lstStyle/>
          <a:p>
            <a:r>
              <a:rPr lang="en-US"/>
              <a:t>Best case? An early break (each pass)! O(n) comparisons.</a:t>
            </a:r>
          </a:p>
          <a:p>
            <a:r>
              <a:rPr lang="en-US"/>
              <a:t>Average case? Iterate half the sorted array. Still O(n^2) comparisons.</a:t>
            </a:r>
          </a:p>
          <a:p>
            <a:r>
              <a:rPr lang="en-US"/>
              <a:t>Worst case? No setbacks. Still O(n^2) comparisons.</a:t>
            </a:r>
          </a:p>
          <a:p>
            <a:r>
              <a:rPr lang="en-US"/>
              <a:t>We can NOT say this is tightly bounded, so O(n^2).</a:t>
            </a:r>
          </a:p>
          <a:p>
            <a:endParaRPr lang="en-US"/>
          </a:p>
        </p:txBody>
      </p:sp>
      <p:pic>
        <p:nvPicPr>
          <p:cNvPr id="6" name="Picture 5">
            <a:extLst>
              <a:ext uri="{FF2B5EF4-FFF2-40B4-BE49-F238E27FC236}">
                <a16:creationId xmlns:a16="http://schemas.microsoft.com/office/drawing/2014/main" id="{07566383-7D76-3887-3142-748D506E2595}"/>
              </a:ext>
            </a:extLst>
          </p:cNvPr>
          <p:cNvPicPr>
            <a:picLocks noChangeAspect="1"/>
          </p:cNvPicPr>
          <p:nvPr/>
        </p:nvPicPr>
        <p:blipFill>
          <a:blip r:embed="rId2"/>
          <a:stretch>
            <a:fillRect/>
          </a:stretch>
        </p:blipFill>
        <p:spPr>
          <a:xfrm>
            <a:off x="4026433" y="4102768"/>
            <a:ext cx="3156420" cy="2444732"/>
          </a:xfrm>
          <a:prstGeom prst="rect">
            <a:avLst/>
          </a:prstGeom>
        </p:spPr>
      </p:pic>
    </p:spTree>
    <p:extLst>
      <p:ext uri="{BB962C8B-B14F-4D97-AF65-F5344CB8AC3E}">
        <p14:creationId xmlns:p14="http://schemas.microsoft.com/office/powerpoint/2010/main" val="1846593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9AA09-FB3F-B28E-44ED-DA58A9B900FE}"/>
              </a:ext>
            </a:extLst>
          </p:cNvPr>
          <p:cNvSpPr>
            <a:spLocks noGrp="1"/>
          </p:cNvSpPr>
          <p:nvPr>
            <p:ph type="title"/>
          </p:nvPr>
        </p:nvSpPr>
        <p:spPr/>
        <p:txBody>
          <a:bodyPr/>
          <a:lstStyle/>
          <a:p>
            <a:r>
              <a:rPr lang="en-US"/>
              <a:t>Selection Sort</a:t>
            </a:r>
          </a:p>
        </p:txBody>
      </p:sp>
      <p:sp>
        <p:nvSpPr>
          <p:cNvPr id="3" name="Content Placeholder 2">
            <a:extLst>
              <a:ext uri="{FF2B5EF4-FFF2-40B4-BE49-F238E27FC236}">
                <a16:creationId xmlns:a16="http://schemas.microsoft.com/office/drawing/2014/main" id="{D7694014-CFF5-F81B-416B-9DE8200EFCD5}"/>
              </a:ext>
            </a:extLst>
          </p:cNvPr>
          <p:cNvSpPr>
            <a:spLocks noGrp="1"/>
          </p:cNvSpPr>
          <p:nvPr>
            <p:ph idx="1"/>
          </p:nvPr>
        </p:nvSpPr>
        <p:spPr>
          <a:xfrm>
            <a:off x="838200" y="1825625"/>
            <a:ext cx="10515600" cy="1025859"/>
          </a:xfrm>
        </p:spPr>
        <p:txBody>
          <a:bodyPr/>
          <a:lstStyle/>
          <a:p>
            <a:r>
              <a:rPr lang="en-US"/>
              <a:t>Find the next smallest element in the rest of the array and swap it into the next position.</a:t>
            </a:r>
          </a:p>
        </p:txBody>
      </p:sp>
      <p:sp>
        <p:nvSpPr>
          <p:cNvPr id="4" name="TextBox 3">
            <a:extLst>
              <a:ext uri="{FF2B5EF4-FFF2-40B4-BE49-F238E27FC236}">
                <a16:creationId xmlns:a16="http://schemas.microsoft.com/office/drawing/2014/main" id="{504AADA1-A308-A604-C190-28F3606DF11D}"/>
              </a:ext>
            </a:extLst>
          </p:cNvPr>
          <p:cNvSpPr txBox="1"/>
          <p:nvPr/>
        </p:nvSpPr>
        <p:spPr>
          <a:xfrm>
            <a:off x="360947" y="2851484"/>
            <a:ext cx="13162547" cy="3416320"/>
          </a:xfrm>
          <a:prstGeom prst="rect">
            <a:avLst/>
          </a:prstGeom>
          <a:noFill/>
        </p:spPr>
        <p:txBody>
          <a:bodyPr wrap="square" rtlCol="0">
            <a:spAutoFit/>
          </a:bodyPr>
          <a:lstStyle/>
          <a:p>
            <a:r>
              <a:rPr lang="en-US">
                <a:latin typeface="Courier New" panose="02070309020205020404" pitchFamily="49" charset="0"/>
                <a:cs typeface="Courier New" panose="02070309020205020404" pitchFamily="49" charset="0"/>
              </a:rPr>
              <a:t>SELECTION_SORT(A):</a:t>
            </a:r>
          </a:p>
          <a:p>
            <a:r>
              <a:rPr lang="en-US">
                <a:latin typeface="Courier New" panose="02070309020205020404" pitchFamily="49" charset="0"/>
                <a:cs typeface="Courier New" panose="02070309020205020404" pitchFamily="49" charset="0"/>
              </a:rPr>
              <a:t>    n = length(A)</a:t>
            </a:r>
          </a:p>
          <a:p>
            <a:r>
              <a:rPr lang="en-US">
                <a:latin typeface="Courier New" panose="02070309020205020404" pitchFamily="49" charset="0"/>
                <a:cs typeface="Courier New" panose="02070309020205020404" pitchFamily="49" charset="0"/>
              </a:rPr>
              <a:t>    </a:t>
            </a:r>
          </a:p>
          <a:p>
            <a:r>
              <a:rPr lang="en-US">
                <a:latin typeface="Courier New" panose="02070309020205020404" pitchFamily="49" charset="0"/>
                <a:cs typeface="Courier New" panose="02070309020205020404" pitchFamily="49" charset="0"/>
              </a:rPr>
              <a:t>    for i = 0 to n-2:                # Outer loop: from first to second-to-last</a:t>
            </a:r>
          </a:p>
          <a:p>
            <a:r>
              <a:rPr lang="en-US">
                <a:latin typeface="Courier New" panose="02070309020205020404" pitchFamily="49" charset="0"/>
                <a:cs typeface="Courier New" panose="02070309020205020404" pitchFamily="49" charset="0"/>
              </a:rPr>
              <a:t>        min_index = i                # Assume current element is the smallest</a:t>
            </a:r>
          </a:p>
          <a:p>
            <a:r>
              <a:rPr lang="en-US">
                <a:latin typeface="Courier New" panose="02070309020205020404" pitchFamily="49" charset="0"/>
                <a:cs typeface="Courier New" panose="02070309020205020404" pitchFamily="49" charset="0"/>
              </a:rPr>
              <a:t>        </a:t>
            </a:r>
          </a:p>
          <a:p>
            <a:r>
              <a:rPr lang="en-US">
                <a:latin typeface="Courier New" panose="02070309020205020404" pitchFamily="49" charset="0"/>
                <a:cs typeface="Courier New" panose="02070309020205020404" pitchFamily="49" charset="0"/>
              </a:rPr>
              <a:t>        for j = i+1 to n-1:          # Inner loop: find smallest in unsorted part</a:t>
            </a:r>
          </a:p>
          <a:p>
            <a:r>
              <a:rPr lang="en-US">
                <a:latin typeface="Courier New" panose="02070309020205020404" pitchFamily="49" charset="0"/>
                <a:cs typeface="Courier New" panose="02070309020205020404" pitchFamily="49" charset="0"/>
              </a:rPr>
              <a:t>            if A[j] &lt; A[min_index]:</a:t>
            </a:r>
          </a:p>
          <a:p>
            <a:r>
              <a:rPr lang="en-US">
                <a:latin typeface="Courier New" panose="02070309020205020404" pitchFamily="49" charset="0"/>
                <a:cs typeface="Courier New" panose="02070309020205020404" pitchFamily="49" charset="0"/>
              </a:rPr>
              <a:t>                min_index = j        # Update min_index if smaller element is found</a:t>
            </a:r>
          </a:p>
          <a:p>
            <a:r>
              <a:rPr lang="en-US">
                <a:latin typeface="Courier New" panose="02070309020205020404" pitchFamily="49" charset="0"/>
                <a:cs typeface="Courier New" panose="02070309020205020404" pitchFamily="49" charset="0"/>
              </a:rPr>
              <a:t>        </a:t>
            </a:r>
          </a:p>
          <a:p>
            <a:r>
              <a:rPr lang="en-US">
                <a:latin typeface="Courier New" panose="02070309020205020404" pitchFamily="49" charset="0"/>
                <a:cs typeface="Courier New" panose="02070309020205020404" pitchFamily="49" charset="0"/>
              </a:rPr>
              <a:t>        if min_index != i:           # Swap if a smaller element was found</a:t>
            </a:r>
          </a:p>
          <a:p>
            <a:r>
              <a:rPr lang="en-US">
                <a:latin typeface="Courier New" panose="02070309020205020404" pitchFamily="49" charset="0"/>
                <a:cs typeface="Courier New" panose="02070309020205020404" pitchFamily="49" charset="0"/>
              </a:rPr>
              <a:t>            swap(A[i], A[min_index])</a:t>
            </a:r>
          </a:p>
        </p:txBody>
      </p:sp>
    </p:spTree>
    <p:extLst>
      <p:ext uri="{BB962C8B-B14F-4D97-AF65-F5344CB8AC3E}">
        <p14:creationId xmlns:p14="http://schemas.microsoft.com/office/powerpoint/2010/main" val="3699116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AC356-4C04-59AE-2B69-ECFAA6423969}"/>
              </a:ext>
            </a:extLst>
          </p:cNvPr>
          <p:cNvSpPr>
            <a:spLocks noGrp="1"/>
          </p:cNvSpPr>
          <p:nvPr>
            <p:ph type="title"/>
          </p:nvPr>
        </p:nvSpPr>
        <p:spPr/>
        <p:txBody>
          <a:bodyPr/>
          <a:lstStyle/>
          <a:p>
            <a:r>
              <a:rPr lang="en-US"/>
              <a:t>Sorting [5| 2, 4, 1, 3]</a:t>
            </a:r>
          </a:p>
        </p:txBody>
      </p:sp>
      <p:graphicFrame>
        <p:nvGraphicFramePr>
          <p:cNvPr id="4" name="Content Placeholder 3">
            <a:extLst>
              <a:ext uri="{FF2B5EF4-FFF2-40B4-BE49-F238E27FC236}">
                <a16:creationId xmlns:a16="http://schemas.microsoft.com/office/drawing/2014/main" id="{90A7C729-F224-2FCB-28E1-6D025FB44E40}"/>
              </a:ext>
            </a:extLst>
          </p:cNvPr>
          <p:cNvGraphicFramePr>
            <a:graphicFrameLocks noGrp="1"/>
          </p:cNvGraphicFramePr>
          <p:nvPr>
            <p:ph idx="1"/>
            <p:extLst>
              <p:ext uri="{D42A27DB-BD31-4B8C-83A1-F6EECF244321}">
                <p14:modId xmlns:p14="http://schemas.microsoft.com/office/powerpoint/2010/main" val="3047473983"/>
              </p:ext>
            </p:extLst>
          </p:nvPr>
        </p:nvGraphicFramePr>
        <p:xfrm>
          <a:off x="838200" y="1367155"/>
          <a:ext cx="10515597" cy="5125720"/>
        </p:xfrm>
        <a:graphic>
          <a:graphicData uri="http://schemas.openxmlformats.org/drawingml/2006/table">
            <a:tbl>
              <a:tblPr firstRow="1" bandRow="1">
                <a:tableStyleId>{5C22544A-7EE6-4342-B048-85BDC9FD1C3A}</a:tableStyleId>
              </a:tblPr>
              <a:tblGrid>
                <a:gridCol w="978568">
                  <a:extLst>
                    <a:ext uri="{9D8B030D-6E8A-4147-A177-3AD203B41FA5}">
                      <a16:colId xmlns:a16="http://schemas.microsoft.com/office/drawing/2014/main" val="1307002386"/>
                    </a:ext>
                  </a:extLst>
                </a:gridCol>
                <a:gridCol w="6100011">
                  <a:extLst>
                    <a:ext uri="{9D8B030D-6E8A-4147-A177-3AD203B41FA5}">
                      <a16:colId xmlns:a16="http://schemas.microsoft.com/office/drawing/2014/main" val="2590416879"/>
                    </a:ext>
                  </a:extLst>
                </a:gridCol>
                <a:gridCol w="3437018">
                  <a:extLst>
                    <a:ext uri="{9D8B030D-6E8A-4147-A177-3AD203B41FA5}">
                      <a16:colId xmlns:a16="http://schemas.microsoft.com/office/drawing/2014/main" val="3301716931"/>
                    </a:ext>
                  </a:extLst>
                </a:gridCol>
              </a:tblGrid>
              <a:tr h="370840">
                <a:tc>
                  <a:txBody>
                    <a:bodyPr/>
                    <a:lstStyle/>
                    <a:p>
                      <a:r>
                        <a:rPr lang="en-US"/>
                        <a:t>Pass (i)</a:t>
                      </a:r>
                    </a:p>
                  </a:txBody>
                  <a:tcPr/>
                </a:tc>
                <a:tc>
                  <a:txBody>
                    <a:bodyPr/>
                    <a:lstStyle/>
                    <a:p>
                      <a:r>
                        <a:rPr lang="en-US"/>
                        <a:t>Actions</a:t>
                      </a:r>
                    </a:p>
                  </a:txBody>
                  <a:tcPr/>
                </a:tc>
                <a:tc>
                  <a:txBody>
                    <a:bodyPr/>
                    <a:lstStyle/>
                    <a:p>
                      <a:r>
                        <a:rPr lang="en-US"/>
                        <a:t>Results</a:t>
                      </a:r>
                    </a:p>
                  </a:txBody>
                  <a:tcPr/>
                </a:tc>
                <a:extLst>
                  <a:ext uri="{0D108BD9-81ED-4DB2-BD59-A6C34878D82A}">
                    <a16:rowId xmlns:a16="http://schemas.microsoft.com/office/drawing/2014/main" val="1345234018"/>
                  </a:ext>
                </a:extLst>
              </a:tr>
              <a:tr h="370840">
                <a:tc>
                  <a:txBody>
                    <a:bodyPr/>
                    <a:lstStyle/>
                    <a:p>
                      <a:pPr algn="ctr"/>
                      <a:r>
                        <a:rPr lang="en-US"/>
                        <a:t>0</a:t>
                      </a:r>
                    </a:p>
                  </a:txBody>
                  <a:tcPr anchor="ctr"/>
                </a:tc>
                <a:tc>
                  <a:txBody>
                    <a:bodyPr/>
                    <a:lstStyle/>
                    <a:p>
                      <a:r>
                        <a:rPr lang="en-US"/>
                        <a:t>Find the index of the smallest element. If its not i, swap it with i.</a:t>
                      </a:r>
                    </a:p>
                    <a:p>
                      <a:r>
                        <a:rPr lang="en-US"/>
                        <a:t>Compare (5, 2).</a:t>
                      </a:r>
                    </a:p>
                    <a:p>
                      <a:r>
                        <a:rPr lang="en-US"/>
                        <a:t>Compare (2, 4).</a:t>
                      </a:r>
                    </a:p>
                    <a:p>
                      <a:r>
                        <a:rPr lang="en-US"/>
                        <a:t>Compare (2, 1).</a:t>
                      </a:r>
                    </a:p>
                    <a:p>
                      <a:r>
                        <a:rPr lang="en-US"/>
                        <a:t>Compare (1, 3).</a:t>
                      </a:r>
                    </a:p>
                    <a:p>
                      <a:endParaRPr lang="en-US"/>
                    </a:p>
                  </a:txBody>
                  <a:tcPr/>
                </a:tc>
                <a:tc>
                  <a:txBody>
                    <a:bodyPr/>
                    <a:lstStyle/>
                    <a:p>
                      <a:r>
                        <a:rPr lang="en-US"/>
                        <a:t>min_index = 0</a:t>
                      </a:r>
                    </a:p>
                    <a:p>
                      <a:r>
                        <a:rPr lang="en-US"/>
                        <a:t>j = 1: min_index = 1</a:t>
                      </a:r>
                    </a:p>
                    <a:p>
                      <a:r>
                        <a:rPr lang="en-US"/>
                        <a:t>j = 2: min_index = 1</a:t>
                      </a:r>
                    </a:p>
                    <a:p>
                      <a:r>
                        <a:rPr lang="en-US"/>
                        <a:t>j = 3: min_index = 3</a:t>
                      </a:r>
                    </a:p>
                    <a:p>
                      <a:r>
                        <a:rPr lang="en-US"/>
                        <a:t>j = 4: min_index = 3</a:t>
                      </a:r>
                    </a:p>
                    <a:p>
                      <a:r>
                        <a:rPr lang="en-US"/>
                        <a:t>0 != 3, swap (5, 1) – [1| 2, 4, 5, 3]</a:t>
                      </a:r>
                    </a:p>
                  </a:txBody>
                  <a:tcPr/>
                </a:tc>
                <a:extLst>
                  <a:ext uri="{0D108BD9-81ED-4DB2-BD59-A6C34878D82A}">
                    <a16:rowId xmlns:a16="http://schemas.microsoft.com/office/drawing/2014/main" val="1240806094"/>
                  </a:ext>
                </a:extLst>
              </a:tr>
              <a:tr h="370840">
                <a:tc>
                  <a:txBody>
                    <a:bodyPr/>
                    <a:lstStyle/>
                    <a:p>
                      <a:pPr algn="ctr"/>
                      <a:r>
                        <a:rPr lang="en-US"/>
                        <a:t>1</a:t>
                      </a:r>
                    </a:p>
                  </a:txBody>
                  <a:tcPr anchor="ctr"/>
                </a:tc>
                <a:tc>
                  <a:txBody>
                    <a:bodyPr/>
                    <a:lstStyle/>
                    <a:p>
                      <a:r>
                        <a:rPr lang="en-US"/>
                        <a:t>Compare (2, 4).</a:t>
                      </a:r>
                    </a:p>
                    <a:p>
                      <a:r>
                        <a:rPr lang="en-US"/>
                        <a:t>Compare (2, 5).</a:t>
                      </a:r>
                    </a:p>
                    <a:p>
                      <a:r>
                        <a:rPr lang="en-US"/>
                        <a:t>Compare (2, 3).</a:t>
                      </a:r>
                    </a:p>
                  </a:txBody>
                  <a:tcPr/>
                </a:tc>
                <a:tc>
                  <a:txBody>
                    <a:bodyPr/>
                    <a:lstStyle/>
                    <a:p>
                      <a:r>
                        <a:rPr lang="en-US"/>
                        <a:t>j = 2: min_index = 1</a:t>
                      </a:r>
                    </a:p>
                    <a:p>
                      <a:r>
                        <a:rPr lang="en-US"/>
                        <a:t>j = 3: min_index =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j = 4: min_index = 1</a:t>
                      </a:r>
                    </a:p>
                    <a:p>
                      <a:r>
                        <a:rPr lang="en-US"/>
                        <a:t>1 == 1, no swap – [1, 2| 4, 5, 3]</a:t>
                      </a:r>
                    </a:p>
                  </a:txBody>
                  <a:tcPr/>
                </a:tc>
                <a:extLst>
                  <a:ext uri="{0D108BD9-81ED-4DB2-BD59-A6C34878D82A}">
                    <a16:rowId xmlns:a16="http://schemas.microsoft.com/office/drawing/2014/main" val="3235491075"/>
                  </a:ext>
                </a:extLst>
              </a:tr>
              <a:tr h="370840">
                <a:tc>
                  <a:txBody>
                    <a:bodyPr/>
                    <a:lstStyle/>
                    <a:p>
                      <a:pPr algn="ctr"/>
                      <a:r>
                        <a:rPr lang="en-US"/>
                        <a:t>2</a:t>
                      </a:r>
                    </a:p>
                  </a:txBody>
                  <a:tcPr anchor="ctr"/>
                </a:tc>
                <a:tc>
                  <a:txBody>
                    <a:bodyPr/>
                    <a:lstStyle/>
                    <a:p>
                      <a:r>
                        <a:rPr lang="en-US"/>
                        <a:t>Compare (4, 5).</a:t>
                      </a:r>
                    </a:p>
                    <a:p>
                      <a:r>
                        <a:rPr lang="en-US"/>
                        <a:t>Compare (4, 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j = 3: min_index =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j = 3: min_index =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2 != 4, swap (4, 3) – [1, 2, 3| 5, 4]</a:t>
                      </a:r>
                    </a:p>
                    <a:p>
                      <a:endParaRPr lang="en-US"/>
                    </a:p>
                  </a:txBody>
                  <a:tcPr/>
                </a:tc>
                <a:extLst>
                  <a:ext uri="{0D108BD9-81ED-4DB2-BD59-A6C34878D82A}">
                    <a16:rowId xmlns:a16="http://schemas.microsoft.com/office/drawing/2014/main" val="457382671"/>
                  </a:ext>
                </a:extLst>
              </a:tr>
              <a:tr h="370840">
                <a:tc>
                  <a:txBody>
                    <a:bodyPr/>
                    <a:lstStyle/>
                    <a:p>
                      <a:pPr algn="ctr"/>
                      <a:r>
                        <a:rPr lang="en-US"/>
                        <a:t>3</a:t>
                      </a:r>
                    </a:p>
                  </a:txBody>
                  <a:tcPr anchor="ctr"/>
                </a:tc>
                <a:tc>
                  <a:txBody>
                    <a:bodyPr/>
                    <a:lstStyle/>
                    <a:p>
                      <a:r>
                        <a:rPr lang="en-US"/>
                        <a:t>Compare (5, 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j = 4: min_index =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3 != 4, swap (5, 4) – [1, 2, 3, 4| 5]</a:t>
                      </a:r>
                    </a:p>
                  </a:txBody>
                  <a:tcPr/>
                </a:tc>
                <a:extLst>
                  <a:ext uri="{0D108BD9-81ED-4DB2-BD59-A6C34878D82A}">
                    <a16:rowId xmlns:a16="http://schemas.microsoft.com/office/drawing/2014/main" val="3756980327"/>
                  </a:ext>
                </a:extLst>
              </a:tr>
            </a:tbl>
          </a:graphicData>
        </a:graphic>
      </p:graphicFrame>
      <p:sp>
        <p:nvSpPr>
          <p:cNvPr id="5" name="TextBox 4">
            <a:extLst>
              <a:ext uri="{FF2B5EF4-FFF2-40B4-BE49-F238E27FC236}">
                <a16:creationId xmlns:a16="http://schemas.microsoft.com/office/drawing/2014/main" id="{59A25C05-0BD4-EA40-E524-4660B854CDFA}"/>
              </a:ext>
            </a:extLst>
          </p:cNvPr>
          <p:cNvSpPr txBox="1"/>
          <p:nvPr/>
        </p:nvSpPr>
        <p:spPr>
          <a:xfrm>
            <a:off x="709864" y="6484490"/>
            <a:ext cx="12332368" cy="369332"/>
          </a:xfrm>
          <a:prstGeom prst="rect">
            <a:avLst/>
          </a:prstGeom>
          <a:noFill/>
        </p:spPr>
        <p:txBody>
          <a:bodyPr wrap="square" rtlCol="0">
            <a:spAutoFit/>
          </a:bodyPr>
          <a:lstStyle/>
          <a:p>
            <a:r>
              <a:rPr lang="en-US"/>
              <a:t>Notice we don't sort the last element. We already know it must be the largest element if it has not been swapped yet.</a:t>
            </a:r>
          </a:p>
        </p:txBody>
      </p:sp>
    </p:spTree>
    <p:extLst>
      <p:ext uri="{BB962C8B-B14F-4D97-AF65-F5344CB8AC3E}">
        <p14:creationId xmlns:p14="http://schemas.microsoft.com/office/powerpoint/2010/main" val="1177308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BD2DE-446D-75A1-5BF6-B179D37BDE83}"/>
              </a:ext>
            </a:extLst>
          </p:cNvPr>
          <p:cNvSpPr>
            <a:spLocks noGrp="1"/>
          </p:cNvSpPr>
          <p:nvPr>
            <p:ph type="title"/>
          </p:nvPr>
        </p:nvSpPr>
        <p:spPr/>
        <p:txBody>
          <a:bodyPr/>
          <a:lstStyle/>
          <a:p>
            <a:r>
              <a:rPr lang="en-US"/>
              <a:t>Sorting [3| 1, 2, 4, 5] </a:t>
            </a:r>
          </a:p>
        </p:txBody>
      </p:sp>
      <p:graphicFrame>
        <p:nvGraphicFramePr>
          <p:cNvPr id="4" name="Content Placeholder 3">
            <a:extLst>
              <a:ext uri="{FF2B5EF4-FFF2-40B4-BE49-F238E27FC236}">
                <a16:creationId xmlns:a16="http://schemas.microsoft.com/office/drawing/2014/main" id="{CBFCD360-7746-9C35-E7A6-569C9F56A2EE}"/>
              </a:ext>
            </a:extLst>
          </p:cNvPr>
          <p:cNvGraphicFramePr>
            <a:graphicFrameLocks noGrp="1"/>
          </p:cNvGraphicFramePr>
          <p:nvPr>
            <p:ph idx="1"/>
            <p:extLst>
              <p:ext uri="{D42A27DB-BD31-4B8C-83A1-F6EECF244321}">
                <p14:modId xmlns:p14="http://schemas.microsoft.com/office/powerpoint/2010/main" val="905518968"/>
              </p:ext>
            </p:extLst>
          </p:nvPr>
        </p:nvGraphicFramePr>
        <p:xfrm>
          <a:off x="838200" y="1367155"/>
          <a:ext cx="10515597" cy="5125720"/>
        </p:xfrm>
        <a:graphic>
          <a:graphicData uri="http://schemas.openxmlformats.org/drawingml/2006/table">
            <a:tbl>
              <a:tblPr firstRow="1" bandRow="1">
                <a:tableStyleId>{5C22544A-7EE6-4342-B048-85BDC9FD1C3A}</a:tableStyleId>
              </a:tblPr>
              <a:tblGrid>
                <a:gridCol w="978568">
                  <a:extLst>
                    <a:ext uri="{9D8B030D-6E8A-4147-A177-3AD203B41FA5}">
                      <a16:colId xmlns:a16="http://schemas.microsoft.com/office/drawing/2014/main" val="1307002386"/>
                    </a:ext>
                  </a:extLst>
                </a:gridCol>
                <a:gridCol w="6100011">
                  <a:extLst>
                    <a:ext uri="{9D8B030D-6E8A-4147-A177-3AD203B41FA5}">
                      <a16:colId xmlns:a16="http://schemas.microsoft.com/office/drawing/2014/main" val="2590416879"/>
                    </a:ext>
                  </a:extLst>
                </a:gridCol>
                <a:gridCol w="3437018">
                  <a:extLst>
                    <a:ext uri="{9D8B030D-6E8A-4147-A177-3AD203B41FA5}">
                      <a16:colId xmlns:a16="http://schemas.microsoft.com/office/drawing/2014/main" val="3301716931"/>
                    </a:ext>
                  </a:extLst>
                </a:gridCol>
              </a:tblGrid>
              <a:tr h="370840">
                <a:tc>
                  <a:txBody>
                    <a:bodyPr/>
                    <a:lstStyle/>
                    <a:p>
                      <a:r>
                        <a:rPr lang="en-US"/>
                        <a:t>Pass (i)</a:t>
                      </a:r>
                    </a:p>
                  </a:txBody>
                  <a:tcPr/>
                </a:tc>
                <a:tc>
                  <a:txBody>
                    <a:bodyPr/>
                    <a:lstStyle/>
                    <a:p>
                      <a:r>
                        <a:rPr lang="en-US"/>
                        <a:t>Actions</a:t>
                      </a:r>
                    </a:p>
                  </a:txBody>
                  <a:tcPr/>
                </a:tc>
                <a:tc>
                  <a:txBody>
                    <a:bodyPr/>
                    <a:lstStyle/>
                    <a:p>
                      <a:r>
                        <a:rPr lang="en-US"/>
                        <a:t>Results</a:t>
                      </a:r>
                    </a:p>
                  </a:txBody>
                  <a:tcPr/>
                </a:tc>
                <a:extLst>
                  <a:ext uri="{0D108BD9-81ED-4DB2-BD59-A6C34878D82A}">
                    <a16:rowId xmlns:a16="http://schemas.microsoft.com/office/drawing/2014/main" val="1345234018"/>
                  </a:ext>
                </a:extLst>
              </a:tr>
              <a:tr h="370840">
                <a:tc>
                  <a:txBody>
                    <a:bodyPr/>
                    <a:lstStyle/>
                    <a:p>
                      <a:pPr algn="ctr"/>
                      <a:r>
                        <a:rPr lang="en-US"/>
                        <a:t>0</a:t>
                      </a:r>
                    </a:p>
                  </a:txBody>
                  <a:tcPr anchor="ctr"/>
                </a:tc>
                <a:tc>
                  <a:txBody>
                    <a:bodyPr/>
                    <a:lstStyle/>
                    <a:p>
                      <a:r>
                        <a:rPr lang="en-US"/>
                        <a:t>Find the index of the smallest element. If its not i, swap it with i.</a:t>
                      </a:r>
                    </a:p>
                    <a:p>
                      <a:r>
                        <a:rPr lang="en-US"/>
                        <a:t>Compare (3, 1).</a:t>
                      </a:r>
                    </a:p>
                    <a:p>
                      <a:r>
                        <a:rPr lang="en-US"/>
                        <a:t>Compare (1, 2).</a:t>
                      </a:r>
                    </a:p>
                    <a:p>
                      <a:r>
                        <a:rPr lang="en-US"/>
                        <a:t>Compare (1, 4).</a:t>
                      </a:r>
                    </a:p>
                    <a:p>
                      <a:r>
                        <a:rPr lang="en-US"/>
                        <a:t>Compare (1, 5).</a:t>
                      </a:r>
                    </a:p>
                    <a:p>
                      <a:endParaRPr lang="en-US"/>
                    </a:p>
                  </a:txBody>
                  <a:tcPr/>
                </a:tc>
                <a:tc>
                  <a:txBody>
                    <a:bodyPr/>
                    <a:lstStyle/>
                    <a:p>
                      <a:r>
                        <a:rPr lang="en-US"/>
                        <a:t>min_index = 0</a:t>
                      </a:r>
                    </a:p>
                    <a:p>
                      <a:r>
                        <a:rPr lang="en-US"/>
                        <a:t>j = 1: min_index = 1</a:t>
                      </a:r>
                    </a:p>
                    <a:p>
                      <a:r>
                        <a:rPr lang="en-US"/>
                        <a:t>j = 2: min_index = 1</a:t>
                      </a:r>
                    </a:p>
                    <a:p>
                      <a:r>
                        <a:rPr lang="en-US"/>
                        <a:t>j = 3: min_index = 1</a:t>
                      </a:r>
                    </a:p>
                    <a:p>
                      <a:r>
                        <a:rPr lang="en-US"/>
                        <a:t>j = 4: min_index = 1</a:t>
                      </a:r>
                    </a:p>
                    <a:p>
                      <a:r>
                        <a:rPr lang="en-US"/>
                        <a:t>0 != 1, swap (3, 1) – [1| 3, 2, 4, 5]</a:t>
                      </a:r>
                    </a:p>
                  </a:txBody>
                  <a:tcPr/>
                </a:tc>
                <a:extLst>
                  <a:ext uri="{0D108BD9-81ED-4DB2-BD59-A6C34878D82A}">
                    <a16:rowId xmlns:a16="http://schemas.microsoft.com/office/drawing/2014/main" val="1240806094"/>
                  </a:ext>
                </a:extLst>
              </a:tr>
              <a:tr h="370840">
                <a:tc>
                  <a:txBody>
                    <a:bodyPr/>
                    <a:lstStyle/>
                    <a:p>
                      <a:pPr algn="ctr"/>
                      <a:r>
                        <a:rPr lang="en-US"/>
                        <a:t>1</a:t>
                      </a:r>
                    </a:p>
                  </a:txBody>
                  <a:tcPr anchor="ctr"/>
                </a:tc>
                <a:tc>
                  <a:txBody>
                    <a:bodyPr/>
                    <a:lstStyle/>
                    <a:p>
                      <a:r>
                        <a:rPr lang="en-US"/>
                        <a:t>Compare (3, 2).</a:t>
                      </a:r>
                    </a:p>
                    <a:p>
                      <a:r>
                        <a:rPr lang="en-US"/>
                        <a:t>Compare (2, 4).</a:t>
                      </a:r>
                    </a:p>
                    <a:p>
                      <a:r>
                        <a:rPr lang="en-US"/>
                        <a:t>Compare (2, 5).</a:t>
                      </a:r>
                    </a:p>
                  </a:txBody>
                  <a:tcPr/>
                </a:tc>
                <a:tc>
                  <a:txBody>
                    <a:bodyPr/>
                    <a:lstStyle/>
                    <a:p>
                      <a:r>
                        <a:rPr lang="en-US"/>
                        <a:t>j = 2: min_index = 2</a:t>
                      </a:r>
                    </a:p>
                    <a:p>
                      <a:r>
                        <a:rPr lang="en-US"/>
                        <a:t>j = 3: min_index =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j = 4: min_index = 2</a:t>
                      </a:r>
                    </a:p>
                    <a:p>
                      <a:r>
                        <a:rPr lang="en-US"/>
                        <a:t>1 != 2, swap (3, 2) – [1, 2| 3, 4, 5]</a:t>
                      </a:r>
                    </a:p>
                  </a:txBody>
                  <a:tcPr/>
                </a:tc>
                <a:extLst>
                  <a:ext uri="{0D108BD9-81ED-4DB2-BD59-A6C34878D82A}">
                    <a16:rowId xmlns:a16="http://schemas.microsoft.com/office/drawing/2014/main" val="3235491075"/>
                  </a:ext>
                </a:extLst>
              </a:tr>
              <a:tr h="370840">
                <a:tc>
                  <a:txBody>
                    <a:bodyPr/>
                    <a:lstStyle/>
                    <a:p>
                      <a:pPr algn="ctr"/>
                      <a:r>
                        <a:rPr lang="en-US"/>
                        <a:t>2</a:t>
                      </a:r>
                    </a:p>
                  </a:txBody>
                  <a:tcPr anchor="ctr"/>
                </a:tc>
                <a:tc>
                  <a:txBody>
                    <a:bodyPr/>
                    <a:lstStyle/>
                    <a:p>
                      <a:r>
                        <a:rPr lang="en-US"/>
                        <a:t>Compare (3, 4).</a:t>
                      </a:r>
                    </a:p>
                    <a:p>
                      <a:r>
                        <a:rPr lang="en-US"/>
                        <a:t>Compare (3, 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j = 3: min_index =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j = 3: min_index =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2 == 2, no swap – [1, 2, 3| 4, 5]</a:t>
                      </a:r>
                    </a:p>
                    <a:p>
                      <a:endParaRPr lang="en-US"/>
                    </a:p>
                  </a:txBody>
                  <a:tcPr/>
                </a:tc>
                <a:extLst>
                  <a:ext uri="{0D108BD9-81ED-4DB2-BD59-A6C34878D82A}">
                    <a16:rowId xmlns:a16="http://schemas.microsoft.com/office/drawing/2014/main" val="457382671"/>
                  </a:ext>
                </a:extLst>
              </a:tr>
              <a:tr h="370840">
                <a:tc>
                  <a:txBody>
                    <a:bodyPr/>
                    <a:lstStyle/>
                    <a:p>
                      <a:pPr algn="ctr"/>
                      <a:r>
                        <a:rPr lang="en-US"/>
                        <a:t>3</a:t>
                      </a:r>
                    </a:p>
                  </a:txBody>
                  <a:tcPr anchor="ctr"/>
                </a:tc>
                <a:tc>
                  <a:txBody>
                    <a:bodyPr/>
                    <a:lstStyle/>
                    <a:p>
                      <a:r>
                        <a:rPr lang="en-US"/>
                        <a:t>Compare (4, 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j = 4: min_index =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3 == 3, no swap – [1, 2, 3, 4| 5]</a:t>
                      </a:r>
                    </a:p>
                  </a:txBody>
                  <a:tcPr/>
                </a:tc>
                <a:extLst>
                  <a:ext uri="{0D108BD9-81ED-4DB2-BD59-A6C34878D82A}">
                    <a16:rowId xmlns:a16="http://schemas.microsoft.com/office/drawing/2014/main" val="3756980327"/>
                  </a:ext>
                </a:extLst>
              </a:tr>
            </a:tbl>
          </a:graphicData>
        </a:graphic>
      </p:graphicFrame>
      <p:sp>
        <p:nvSpPr>
          <p:cNvPr id="6" name="TextBox 5">
            <a:extLst>
              <a:ext uri="{FF2B5EF4-FFF2-40B4-BE49-F238E27FC236}">
                <a16:creationId xmlns:a16="http://schemas.microsoft.com/office/drawing/2014/main" id="{49D8321F-ECFC-185C-670B-58A33A5048ED}"/>
              </a:ext>
            </a:extLst>
          </p:cNvPr>
          <p:cNvSpPr txBox="1"/>
          <p:nvPr/>
        </p:nvSpPr>
        <p:spPr>
          <a:xfrm>
            <a:off x="1644314" y="6488668"/>
            <a:ext cx="8903368" cy="369332"/>
          </a:xfrm>
          <a:prstGeom prst="rect">
            <a:avLst/>
          </a:prstGeom>
          <a:noFill/>
        </p:spPr>
        <p:txBody>
          <a:bodyPr wrap="square" rtlCol="0">
            <a:spAutoFit/>
          </a:bodyPr>
          <a:lstStyle/>
          <a:p>
            <a:r>
              <a:rPr lang="en-US"/>
              <a:t>We "finished" after pass (i=1), but we don't know that the unsorted elements are already sorted.</a:t>
            </a:r>
          </a:p>
        </p:txBody>
      </p:sp>
    </p:spTree>
    <p:extLst>
      <p:ext uri="{BB962C8B-B14F-4D97-AF65-F5344CB8AC3E}">
        <p14:creationId xmlns:p14="http://schemas.microsoft.com/office/powerpoint/2010/main" val="3697293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41CCF-CD19-440A-5A84-1BD8DE8580F9}"/>
              </a:ext>
            </a:extLst>
          </p:cNvPr>
          <p:cNvSpPr>
            <a:spLocks noGrp="1"/>
          </p:cNvSpPr>
          <p:nvPr>
            <p:ph type="title"/>
          </p:nvPr>
        </p:nvSpPr>
        <p:spPr/>
        <p:txBody>
          <a:bodyPr/>
          <a:lstStyle/>
          <a:p>
            <a:r>
              <a:rPr lang="en-US"/>
              <a:t>Calculate Selection Sort Time Complexity</a:t>
            </a:r>
          </a:p>
        </p:txBody>
      </p:sp>
      <p:sp>
        <p:nvSpPr>
          <p:cNvPr id="3" name="Content Placeholder 2">
            <a:extLst>
              <a:ext uri="{FF2B5EF4-FFF2-40B4-BE49-F238E27FC236}">
                <a16:creationId xmlns:a16="http://schemas.microsoft.com/office/drawing/2014/main" id="{EF743C7C-4655-6923-C4E6-31142F026752}"/>
              </a:ext>
            </a:extLst>
          </p:cNvPr>
          <p:cNvSpPr>
            <a:spLocks noGrp="1"/>
          </p:cNvSpPr>
          <p:nvPr>
            <p:ph idx="1"/>
          </p:nvPr>
        </p:nvSpPr>
        <p:spPr/>
        <p:txBody>
          <a:bodyPr/>
          <a:lstStyle/>
          <a:p>
            <a:r>
              <a:rPr lang="en-US"/>
              <a:t>Always n-1 + n-2 + … + 1 comparisons, which we know is O(n^2).</a:t>
            </a:r>
          </a:p>
          <a:p>
            <a:r>
              <a:rPr lang="en-US"/>
              <a:t>No early exits, variance, or setbacks.</a:t>
            </a:r>
          </a:p>
          <a:p>
            <a:r>
              <a:rPr lang="en-US"/>
              <a:t>Tightly bounded, so </a:t>
            </a:r>
            <a:r>
              <a:rPr lang="el-GR"/>
              <a:t>ϴ</a:t>
            </a:r>
            <a:r>
              <a:rPr lang="en-US"/>
              <a:t>(n^2).</a:t>
            </a:r>
          </a:p>
          <a:p>
            <a:endParaRPr lang="en-US"/>
          </a:p>
        </p:txBody>
      </p:sp>
      <p:pic>
        <p:nvPicPr>
          <p:cNvPr id="4" name="Picture 2" descr="Bubble Sort time complexity">
            <a:extLst>
              <a:ext uri="{FF2B5EF4-FFF2-40B4-BE49-F238E27FC236}">
                <a16:creationId xmlns:a16="http://schemas.microsoft.com/office/drawing/2014/main" id="{54AD0C86-7C08-BDEF-3AEE-0CEEA687C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8515" y="3856915"/>
            <a:ext cx="3476625" cy="28956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BCBC75E-3A86-6CD4-6ED8-7D565501BBA1}"/>
              </a:ext>
            </a:extLst>
          </p:cNvPr>
          <p:cNvSpPr txBox="1"/>
          <p:nvPr/>
        </p:nvSpPr>
        <p:spPr>
          <a:xfrm>
            <a:off x="7102440" y="5135438"/>
            <a:ext cx="6803859" cy="338554"/>
          </a:xfrm>
          <a:prstGeom prst="rect">
            <a:avLst/>
          </a:prstGeom>
          <a:noFill/>
        </p:spPr>
        <p:txBody>
          <a:bodyPr wrap="square" rtlCol="0">
            <a:spAutoFit/>
          </a:bodyPr>
          <a:lstStyle/>
          <a:p>
            <a:r>
              <a:rPr lang="en-US" sz="1600"/>
              <a:t>https://www.w3schools.com/dsa/dsa_algo_bubblesort.php</a:t>
            </a:r>
          </a:p>
        </p:txBody>
      </p:sp>
    </p:spTree>
    <p:extLst>
      <p:ext uri="{BB962C8B-B14F-4D97-AF65-F5344CB8AC3E}">
        <p14:creationId xmlns:p14="http://schemas.microsoft.com/office/powerpoint/2010/main" val="3998137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8ACFF-FE75-D37E-1B80-45891ACE49FA}"/>
              </a:ext>
            </a:extLst>
          </p:cNvPr>
          <p:cNvSpPr>
            <a:spLocks noGrp="1"/>
          </p:cNvSpPr>
          <p:nvPr>
            <p:ph type="title"/>
          </p:nvPr>
        </p:nvSpPr>
        <p:spPr/>
        <p:txBody>
          <a:bodyPr/>
          <a:lstStyle/>
          <a:p>
            <a:r>
              <a:rPr lang="en-US"/>
              <a:t>Using Elementary Sorting Algos In Practice</a:t>
            </a:r>
          </a:p>
        </p:txBody>
      </p:sp>
      <p:sp>
        <p:nvSpPr>
          <p:cNvPr id="3" name="Content Placeholder 2">
            <a:extLst>
              <a:ext uri="{FF2B5EF4-FFF2-40B4-BE49-F238E27FC236}">
                <a16:creationId xmlns:a16="http://schemas.microsoft.com/office/drawing/2014/main" id="{B5E75F8B-36DC-764A-F7BF-ECA6C898F6C8}"/>
              </a:ext>
            </a:extLst>
          </p:cNvPr>
          <p:cNvSpPr>
            <a:spLocks noGrp="1"/>
          </p:cNvSpPr>
          <p:nvPr>
            <p:ph idx="1"/>
          </p:nvPr>
        </p:nvSpPr>
        <p:spPr>
          <a:xfrm>
            <a:off x="753979" y="1584992"/>
            <a:ext cx="10515600" cy="5032375"/>
          </a:xfrm>
        </p:spPr>
        <p:txBody>
          <a:bodyPr/>
          <a:lstStyle/>
          <a:p>
            <a:r>
              <a:rPr lang="en-US"/>
              <a:t>Bubble Sort, and even the optimized bubble sort are not only O(n^2) but do many sweeps per pass.</a:t>
            </a:r>
          </a:p>
          <a:p>
            <a:pPr lvl="1"/>
            <a:r>
              <a:rPr lang="en-US"/>
              <a:t>Even in small lists, the constant factor for the n^2 term is larger than that for Selection sort.</a:t>
            </a:r>
          </a:p>
          <a:p>
            <a:pPr lvl="1"/>
            <a:r>
              <a:rPr lang="en-US"/>
              <a:t>Bubble sort is never used!</a:t>
            </a:r>
          </a:p>
          <a:p>
            <a:r>
              <a:rPr lang="en-US"/>
              <a:t>Selection Sort is never able to exit early, and so will need to always iterate through the rest of the list, while on average insertion sort only needs to iterate through half.</a:t>
            </a:r>
          </a:p>
          <a:p>
            <a:pPr lvl="1"/>
            <a:r>
              <a:rPr lang="en-US"/>
              <a:t>Selection sort is never used!</a:t>
            </a:r>
          </a:p>
          <a:p>
            <a:r>
              <a:rPr lang="en-US"/>
              <a:t>Insertion Sort is still O(n^2) but has a very low constant factor, which means for small inputs its actually quite fast.</a:t>
            </a:r>
          </a:p>
          <a:p>
            <a:pPr lvl="1"/>
            <a:r>
              <a:rPr lang="en-US"/>
              <a:t>Beats better algorithms when dealing with small inputs!</a:t>
            </a:r>
          </a:p>
        </p:txBody>
      </p:sp>
    </p:spTree>
    <p:extLst>
      <p:ext uri="{BB962C8B-B14F-4D97-AF65-F5344CB8AC3E}">
        <p14:creationId xmlns:p14="http://schemas.microsoft.com/office/powerpoint/2010/main" val="338419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E5F33-6C6D-2D95-0FEF-1DEC3BD4DF1D}"/>
              </a:ext>
            </a:extLst>
          </p:cNvPr>
          <p:cNvSpPr>
            <a:spLocks noGrp="1"/>
          </p:cNvSpPr>
          <p:nvPr>
            <p:ph type="title"/>
          </p:nvPr>
        </p:nvSpPr>
        <p:spPr/>
        <p:txBody>
          <a:bodyPr/>
          <a:lstStyle/>
          <a:p>
            <a:r>
              <a:rPr lang="en-US"/>
              <a:t>Intermediate Sorting Algorithms</a:t>
            </a:r>
          </a:p>
        </p:txBody>
      </p:sp>
      <p:sp>
        <p:nvSpPr>
          <p:cNvPr id="3" name="Content Placeholder 2">
            <a:extLst>
              <a:ext uri="{FF2B5EF4-FFF2-40B4-BE49-F238E27FC236}">
                <a16:creationId xmlns:a16="http://schemas.microsoft.com/office/drawing/2014/main" id="{1449790A-B949-EA37-C235-A692F6B8001D}"/>
              </a:ext>
            </a:extLst>
          </p:cNvPr>
          <p:cNvSpPr>
            <a:spLocks noGrp="1"/>
          </p:cNvSpPr>
          <p:nvPr>
            <p:ph idx="1"/>
          </p:nvPr>
        </p:nvSpPr>
        <p:spPr/>
        <p:txBody>
          <a:bodyPr/>
          <a:lstStyle/>
          <a:p>
            <a:r>
              <a:rPr lang="en-US"/>
              <a:t>Merge Sort</a:t>
            </a:r>
          </a:p>
          <a:p>
            <a:pPr lvl="1"/>
            <a:r>
              <a:rPr lang="en-US"/>
              <a:t>Divide-and-Conquer! Recursively split and re-merge.</a:t>
            </a:r>
          </a:p>
          <a:p>
            <a:pPr lvl="1"/>
            <a:r>
              <a:rPr lang="en-US"/>
              <a:t>Find midpoint, sort each half separately, then recombine.</a:t>
            </a:r>
          </a:p>
          <a:p>
            <a:r>
              <a:rPr lang="en-US"/>
              <a:t>Quick Sort</a:t>
            </a:r>
          </a:p>
          <a:p>
            <a:pPr lvl="1"/>
            <a:r>
              <a:rPr lang="en-US"/>
              <a:t>Pivot-based partitioning, recursive sorting.</a:t>
            </a:r>
          </a:p>
          <a:p>
            <a:pPr lvl="1"/>
            <a:r>
              <a:rPr lang="en-US"/>
              <a:t>Say you're organizing books in a shelf by height.</a:t>
            </a:r>
          </a:p>
          <a:p>
            <a:pPr lvl="2"/>
            <a:r>
              <a:rPr lang="en-US"/>
              <a:t>Pick a "pivot" book that hopefully has a middling height level.</a:t>
            </a:r>
          </a:p>
          <a:p>
            <a:pPr lvl="2"/>
            <a:r>
              <a:rPr lang="en-US"/>
              <a:t>Books shorter than the pivot go left, taller go right.</a:t>
            </a:r>
          </a:p>
          <a:p>
            <a:pPr lvl="2"/>
            <a:r>
              <a:rPr lang="en-US"/>
              <a:t>Recurse on left and right sections.</a:t>
            </a:r>
          </a:p>
        </p:txBody>
      </p:sp>
    </p:spTree>
    <p:extLst>
      <p:ext uri="{BB962C8B-B14F-4D97-AF65-F5344CB8AC3E}">
        <p14:creationId xmlns:p14="http://schemas.microsoft.com/office/powerpoint/2010/main" val="1978855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BBD12-E2EB-0F75-1BAF-C77F67A2F01F}"/>
              </a:ext>
            </a:extLst>
          </p:cNvPr>
          <p:cNvSpPr>
            <a:spLocks noGrp="1"/>
          </p:cNvSpPr>
          <p:nvPr>
            <p:ph type="title"/>
          </p:nvPr>
        </p:nvSpPr>
        <p:spPr/>
        <p:txBody>
          <a:bodyPr/>
          <a:lstStyle/>
          <a:p>
            <a:r>
              <a:rPr lang="en-US"/>
              <a:t>Merge Sort</a:t>
            </a:r>
          </a:p>
        </p:txBody>
      </p:sp>
      <p:sp>
        <p:nvSpPr>
          <p:cNvPr id="3" name="Content Placeholder 2">
            <a:extLst>
              <a:ext uri="{FF2B5EF4-FFF2-40B4-BE49-F238E27FC236}">
                <a16:creationId xmlns:a16="http://schemas.microsoft.com/office/drawing/2014/main" id="{5E1A40CA-1D19-57E5-0214-AE4BB4BFB22D}"/>
              </a:ext>
            </a:extLst>
          </p:cNvPr>
          <p:cNvSpPr>
            <a:spLocks noGrp="1"/>
          </p:cNvSpPr>
          <p:nvPr>
            <p:ph idx="1"/>
          </p:nvPr>
        </p:nvSpPr>
        <p:spPr>
          <a:xfrm>
            <a:off x="838200" y="1492722"/>
            <a:ext cx="10515600" cy="977733"/>
          </a:xfrm>
        </p:spPr>
        <p:txBody>
          <a:bodyPr/>
          <a:lstStyle/>
          <a:p>
            <a:r>
              <a:rPr lang="en-US"/>
              <a:t>Divide the arrays into two halves recursively until subarrays have 1 element. Merge subarrays into sorted pairs on way back up.</a:t>
            </a:r>
          </a:p>
        </p:txBody>
      </p:sp>
      <p:sp>
        <p:nvSpPr>
          <p:cNvPr id="4" name="Rectangle 1">
            <a:extLst>
              <a:ext uri="{FF2B5EF4-FFF2-40B4-BE49-F238E27FC236}">
                <a16:creationId xmlns:a16="http://schemas.microsoft.com/office/drawing/2014/main" id="{8C0925FD-9259-A494-6811-372B107BBB1B}"/>
              </a:ext>
            </a:extLst>
          </p:cNvPr>
          <p:cNvSpPr>
            <a:spLocks noChangeArrowheads="1"/>
          </p:cNvSpPr>
          <p:nvPr/>
        </p:nvSpPr>
        <p:spPr bwMode="auto">
          <a:xfrm>
            <a:off x="233789" y="2593568"/>
            <a:ext cx="4320093"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a:latin typeface="Courier New" panose="02070309020205020404" pitchFamily="49" charset="0"/>
                <a:cs typeface="Courier New" panose="02070309020205020404" pitchFamily="49" charset="0"/>
              </a:rPr>
              <a:t>SORT(A):</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a:latin typeface="Courier New" panose="02070309020205020404" pitchFamily="49" charset="0"/>
                <a:cs typeface="Courier New" panose="02070309020205020404" pitchFamily="49" charset="0"/>
              </a:rPr>
              <a:t>    MERGE_SORT(A, 0, n-1)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a:ln>
                <a:noFill/>
              </a:ln>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a:ln>
                <a:noFill/>
              </a:ln>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a:ln>
                <a:noFill/>
              </a:ln>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MERGE_SORT(A, left, right):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if left &lt; right: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mid = left + (right-left)/2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MERGE_SORT(A, left, mid)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MERGE_SORT(A, mid+1, right)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a:latin typeface="Courier New" panose="02070309020205020404" pitchFamily="49" charset="0"/>
                <a:cs typeface="Courier New" panose="02070309020205020404" pitchFamily="49" charset="0"/>
              </a:rPr>
              <a:t>        </a:t>
            </a: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MERGE(A, left, mid, right</a:t>
            </a:r>
            <a:r>
              <a:rPr lang="en-US" altLang="en-US" sz="1600">
                <a:latin typeface="Courier New" panose="02070309020205020404" pitchFamily="49" charset="0"/>
                <a:cs typeface="Courier New" panose="02070309020205020404" pitchFamily="49" charset="0"/>
              </a:rPr>
              <a:t>)</a:t>
            </a:r>
            <a:endParaRPr kumimoji="0" lang="en-US" altLang="en-US" sz="1600" b="0" i="0" u="none" strike="noStrike" cap="none" normalizeH="0" baseline="0">
              <a:ln>
                <a:noFill/>
              </a:ln>
              <a:effectLst/>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CFA22333-C5BE-7163-766F-3C03926A0D10}"/>
              </a:ext>
            </a:extLst>
          </p:cNvPr>
          <p:cNvSpPr txBox="1"/>
          <p:nvPr/>
        </p:nvSpPr>
        <p:spPr>
          <a:xfrm>
            <a:off x="3949471" y="2400605"/>
            <a:ext cx="4825039" cy="452431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MERGE(A, left, mid, right):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 Create temporary arrays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L = A[left..mid]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R = A[mid+1..right]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i = j = 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k = left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a:ln>
                <a:noFill/>
              </a:ln>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 Compare and merge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while i &lt; len(L) and j &lt; len(R):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if L[i] ≤ R[j]:</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A[k] = L[i]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i +=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else: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A[k] = R[j]</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j +=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k += 1</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a:latin typeface="Courier New" panose="02070309020205020404" pitchFamily="49" charset="0"/>
                <a:cs typeface="Courier New" panose="02070309020205020404" pitchFamily="49" charset="0"/>
              </a:rPr>
              <a:t>    </a:t>
            </a: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a:t>
            </a:r>
          </a:p>
        </p:txBody>
      </p:sp>
      <p:sp>
        <p:nvSpPr>
          <p:cNvPr id="6" name="TextBox 5">
            <a:extLst>
              <a:ext uri="{FF2B5EF4-FFF2-40B4-BE49-F238E27FC236}">
                <a16:creationId xmlns:a16="http://schemas.microsoft.com/office/drawing/2014/main" id="{31E41AE0-EF1B-0FBD-3C10-04870F58584B}"/>
              </a:ext>
            </a:extLst>
          </p:cNvPr>
          <p:cNvSpPr txBox="1"/>
          <p:nvPr/>
        </p:nvSpPr>
        <p:spPr>
          <a:xfrm>
            <a:off x="7809750" y="3630553"/>
            <a:ext cx="4975059" cy="286232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a:latin typeface="Courier New" panose="02070309020205020404" pitchFamily="49" charset="0"/>
                <a:cs typeface="Courier New" panose="02070309020205020404" pitchFamily="49" charset="0"/>
              </a:rPr>
              <a:t>    … </a:t>
            </a:r>
            <a:endParaRPr kumimoji="0" lang="en-US" altLang="en-US" sz="1600" b="0" i="0" u="none" strike="noStrike" cap="none" normalizeH="0" baseline="0">
              <a:ln>
                <a:noFill/>
              </a:ln>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 Copy any remaining elements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while i &lt; len(L):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A[k] = L[i]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i +=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k +=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while j &lt; len(R):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A[k] = R[j]</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j +=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effectLst/>
                <a:latin typeface="Courier New" panose="02070309020205020404" pitchFamily="49" charset="0"/>
                <a:cs typeface="Courier New" panose="02070309020205020404" pitchFamily="49" charset="0"/>
              </a:rPr>
              <a:t>        k += 1</a:t>
            </a:r>
            <a:endParaRPr lang="en-US" sz="1600">
              <a:latin typeface="Courier New" panose="02070309020205020404" pitchFamily="49" charset="0"/>
              <a:cs typeface="Courier New" panose="02070309020205020404" pitchFamily="49" charset="0"/>
            </a:endParaRPr>
          </a:p>
          <a:p>
            <a:endParaRPr lang="en-US" sz="160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59991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1A0D-7936-89F2-6AA5-3475BC930402}"/>
              </a:ext>
            </a:extLst>
          </p:cNvPr>
          <p:cNvSpPr>
            <a:spLocks noGrp="1"/>
          </p:cNvSpPr>
          <p:nvPr>
            <p:ph type="title"/>
          </p:nvPr>
        </p:nvSpPr>
        <p:spPr/>
        <p:txBody>
          <a:bodyPr/>
          <a:lstStyle/>
          <a:p>
            <a:r>
              <a:rPr lang="en-US"/>
              <a:t>Merge Sort Example</a:t>
            </a:r>
          </a:p>
        </p:txBody>
      </p:sp>
      <p:pic>
        <p:nvPicPr>
          <p:cNvPr id="5" name="Picture 4">
            <a:extLst>
              <a:ext uri="{FF2B5EF4-FFF2-40B4-BE49-F238E27FC236}">
                <a16:creationId xmlns:a16="http://schemas.microsoft.com/office/drawing/2014/main" id="{046DD278-8EA0-C2D4-E7D6-02742489D851}"/>
              </a:ext>
            </a:extLst>
          </p:cNvPr>
          <p:cNvPicPr>
            <a:picLocks noChangeAspect="1"/>
          </p:cNvPicPr>
          <p:nvPr/>
        </p:nvPicPr>
        <p:blipFill>
          <a:blip r:embed="rId2"/>
          <a:stretch>
            <a:fillRect/>
          </a:stretch>
        </p:blipFill>
        <p:spPr>
          <a:xfrm>
            <a:off x="1419726" y="1432569"/>
            <a:ext cx="8634464" cy="4883512"/>
          </a:xfrm>
          <a:prstGeom prst="rect">
            <a:avLst/>
          </a:prstGeom>
        </p:spPr>
      </p:pic>
    </p:spTree>
    <p:extLst>
      <p:ext uri="{BB962C8B-B14F-4D97-AF65-F5344CB8AC3E}">
        <p14:creationId xmlns:p14="http://schemas.microsoft.com/office/powerpoint/2010/main" val="1679275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880F-AA8D-B29D-B1B0-7CA55741FB6D}"/>
              </a:ext>
            </a:extLst>
          </p:cNvPr>
          <p:cNvSpPr>
            <a:spLocks noGrp="1"/>
          </p:cNvSpPr>
          <p:nvPr>
            <p:ph type="title"/>
          </p:nvPr>
        </p:nvSpPr>
        <p:spPr/>
        <p:txBody>
          <a:bodyPr/>
          <a:lstStyle/>
          <a:p>
            <a:r>
              <a:rPr lang="en-US"/>
              <a:t>Sorting A = [4, 3, 2, 1]</a:t>
            </a:r>
          </a:p>
        </p:txBody>
      </p:sp>
      <p:graphicFrame>
        <p:nvGraphicFramePr>
          <p:cNvPr id="4" name="Table 3">
            <a:extLst>
              <a:ext uri="{FF2B5EF4-FFF2-40B4-BE49-F238E27FC236}">
                <a16:creationId xmlns:a16="http://schemas.microsoft.com/office/drawing/2014/main" id="{B89CAF3E-B12D-3861-2386-CE16BA3B712F}"/>
              </a:ext>
            </a:extLst>
          </p:cNvPr>
          <p:cNvGraphicFramePr>
            <a:graphicFrameLocks noGrp="1"/>
          </p:cNvGraphicFramePr>
          <p:nvPr>
            <p:extLst>
              <p:ext uri="{D42A27DB-BD31-4B8C-83A1-F6EECF244321}">
                <p14:modId xmlns:p14="http://schemas.microsoft.com/office/powerpoint/2010/main" val="2297312886"/>
              </p:ext>
            </p:extLst>
          </p:nvPr>
        </p:nvGraphicFramePr>
        <p:xfrm>
          <a:off x="579521" y="1351915"/>
          <a:ext cx="11032958" cy="3855720"/>
        </p:xfrm>
        <a:graphic>
          <a:graphicData uri="http://schemas.openxmlformats.org/drawingml/2006/table">
            <a:tbl>
              <a:tblPr firstRow="1" bandRow="1">
                <a:tableStyleId>{5C22544A-7EE6-4342-B048-85BDC9FD1C3A}</a:tableStyleId>
              </a:tblPr>
              <a:tblGrid>
                <a:gridCol w="1155032">
                  <a:extLst>
                    <a:ext uri="{9D8B030D-6E8A-4147-A177-3AD203B41FA5}">
                      <a16:colId xmlns:a16="http://schemas.microsoft.com/office/drawing/2014/main" val="2515808979"/>
                    </a:ext>
                  </a:extLst>
                </a:gridCol>
                <a:gridCol w="577516">
                  <a:extLst>
                    <a:ext uri="{9D8B030D-6E8A-4147-A177-3AD203B41FA5}">
                      <a16:colId xmlns:a16="http://schemas.microsoft.com/office/drawing/2014/main" val="3195612473"/>
                    </a:ext>
                  </a:extLst>
                </a:gridCol>
                <a:gridCol w="2526632">
                  <a:extLst>
                    <a:ext uri="{9D8B030D-6E8A-4147-A177-3AD203B41FA5}">
                      <a16:colId xmlns:a16="http://schemas.microsoft.com/office/drawing/2014/main" val="2544475621"/>
                    </a:ext>
                  </a:extLst>
                </a:gridCol>
                <a:gridCol w="3561347">
                  <a:extLst>
                    <a:ext uri="{9D8B030D-6E8A-4147-A177-3AD203B41FA5}">
                      <a16:colId xmlns:a16="http://schemas.microsoft.com/office/drawing/2014/main" val="3397226369"/>
                    </a:ext>
                  </a:extLst>
                </a:gridCol>
                <a:gridCol w="3212431">
                  <a:extLst>
                    <a:ext uri="{9D8B030D-6E8A-4147-A177-3AD203B41FA5}">
                      <a16:colId xmlns:a16="http://schemas.microsoft.com/office/drawing/2014/main" val="2606394320"/>
                    </a:ext>
                  </a:extLst>
                </a:gridCol>
              </a:tblGrid>
              <a:tr h="370840">
                <a:tc>
                  <a:txBody>
                    <a:bodyPr/>
                    <a:lstStyle/>
                    <a:p>
                      <a:pPr algn="l"/>
                      <a:r>
                        <a:rPr lang="en-US"/>
                        <a:t>Path</a:t>
                      </a:r>
                    </a:p>
                  </a:txBody>
                  <a:tcPr anchor="ctr"/>
                </a:tc>
                <a:tc>
                  <a:txBody>
                    <a:bodyPr/>
                    <a:lstStyle/>
                    <a:p>
                      <a:pPr algn="ctr"/>
                      <a:r>
                        <a:rPr lang="en-US"/>
                        <a:t>mid</a:t>
                      </a:r>
                    </a:p>
                  </a:txBody>
                  <a:tcPr anchor="ctr"/>
                </a:tc>
                <a:tc>
                  <a:txBody>
                    <a:bodyPr/>
                    <a:lstStyle/>
                    <a:p>
                      <a:r>
                        <a:rPr lang="en-US"/>
                        <a:t>Directions</a:t>
                      </a:r>
                    </a:p>
                  </a:txBody>
                  <a:tcPr/>
                </a:tc>
                <a:tc>
                  <a:txBody>
                    <a:bodyPr/>
                    <a:lstStyle/>
                    <a:p>
                      <a:r>
                        <a:rPr lang="en-US"/>
                        <a:t>Actions</a:t>
                      </a:r>
                    </a:p>
                  </a:txBody>
                  <a:tcPr/>
                </a:tc>
                <a:tc>
                  <a:txBody>
                    <a:bodyPr/>
                    <a:lstStyle/>
                    <a:p>
                      <a:r>
                        <a:rPr lang="en-US"/>
                        <a:t>Results</a:t>
                      </a:r>
                    </a:p>
                  </a:txBody>
                  <a:tcPr/>
                </a:tc>
                <a:extLst>
                  <a:ext uri="{0D108BD9-81ED-4DB2-BD59-A6C34878D82A}">
                    <a16:rowId xmlns:a16="http://schemas.microsoft.com/office/drawing/2014/main" val="6644505"/>
                  </a:ext>
                </a:extLst>
              </a:tr>
              <a:tr h="370840">
                <a:tc>
                  <a:txBody>
                    <a:bodyPr/>
                    <a:lstStyle/>
                    <a:p>
                      <a:pPr algn="ctr"/>
                      <a:r>
                        <a:rPr lang="en-US"/>
                        <a:t>-</a:t>
                      </a:r>
                    </a:p>
                  </a:txBody>
                  <a:tcPr anchor="ctr"/>
                </a:tc>
                <a:tc>
                  <a:txBody>
                    <a:bodyPr/>
                    <a:lstStyle/>
                    <a:p>
                      <a:pPr algn="ctr"/>
                      <a:r>
                        <a:rPr lang="en-US"/>
                        <a:t>2</a:t>
                      </a:r>
                    </a:p>
                  </a:txBody>
                  <a:tcPr anchor="ctr"/>
                </a:tc>
                <a:tc>
                  <a:txBody>
                    <a:bodyPr/>
                    <a:lstStyle/>
                    <a:p>
                      <a:r>
                        <a:rPr lang="en-US"/>
                        <a:t>Recurse and sort left.</a:t>
                      </a:r>
                    </a:p>
                    <a:p>
                      <a:r>
                        <a:rPr lang="en-US"/>
                        <a:t>Recurse and sort right.</a:t>
                      </a:r>
                    </a:p>
                    <a:p>
                      <a:r>
                        <a:rPr lang="en-US"/>
                        <a:t>Combine.</a:t>
                      </a:r>
                    </a:p>
                  </a:txBody>
                  <a:tcPr/>
                </a:tc>
                <a:tc>
                  <a:txBody>
                    <a:bodyPr/>
                    <a:lstStyle/>
                    <a:p>
                      <a:r>
                        <a:rPr lang="en-US"/>
                        <a:t>L: Sort(A, 0, 1), A[0 to 1] = [4, 3]</a:t>
                      </a:r>
                    </a:p>
                    <a:p>
                      <a:r>
                        <a:rPr lang="en-US"/>
                        <a:t>R: Sort(A, 2, 3), A[2 to 3] = [2, 1]</a:t>
                      </a:r>
                    </a:p>
                    <a:p>
                      <a:r>
                        <a:rPr lang="en-US"/>
                        <a:t>Put L and R into A[0 to 3]</a:t>
                      </a:r>
                    </a:p>
                  </a:txBody>
                  <a:tcPr/>
                </a:tc>
                <a:tc>
                  <a:txBody>
                    <a:bodyPr/>
                    <a:lstStyle/>
                    <a:p>
                      <a:r>
                        <a:rPr lang="en-US"/>
                        <a:t>L sorts to [3, 4]</a:t>
                      </a:r>
                    </a:p>
                    <a:p>
                      <a:r>
                        <a:rPr lang="en-US"/>
                        <a:t>R sorts to [1, 2]</a:t>
                      </a:r>
                    </a:p>
                    <a:p>
                      <a:r>
                        <a:rPr lang="en-US"/>
                        <a:t>A = [1, 2, 3, 4] Final result.</a:t>
                      </a:r>
                    </a:p>
                  </a:txBody>
                  <a:tcPr/>
                </a:tc>
                <a:extLst>
                  <a:ext uri="{0D108BD9-81ED-4DB2-BD59-A6C34878D82A}">
                    <a16:rowId xmlns:a16="http://schemas.microsoft.com/office/drawing/2014/main" val="2263261746"/>
                  </a:ext>
                </a:extLst>
              </a:tr>
              <a:tr h="370840">
                <a:tc>
                  <a:txBody>
                    <a:bodyPr/>
                    <a:lstStyle/>
                    <a:p>
                      <a:pPr algn="ctr"/>
                      <a:r>
                        <a:rPr lang="en-US"/>
                        <a:t>L</a:t>
                      </a:r>
                    </a:p>
                  </a:txBody>
                  <a:tcPr anchor="ctr"/>
                </a:tc>
                <a:tc>
                  <a:txBody>
                    <a:bodyPr/>
                    <a:lstStyle/>
                    <a:p>
                      <a:pPr algn="ctr"/>
                      <a:r>
                        <a:rPr lang="en-US"/>
                        <a:t>1</a:t>
                      </a:r>
                    </a:p>
                  </a:txBody>
                  <a:tcPr anchor="ctr"/>
                </a:tc>
                <a:tc>
                  <a:txBody>
                    <a:bodyPr/>
                    <a:lstStyle/>
                    <a:p>
                      <a:r>
                        <a:rPr lang="en-US"/>
                        <a:t>Recursively sort left.</a:t>
                      </a:r>
                    </a:p>
                    <a:p>
                      <a:r>
                        <a:rPr lang="en-US"/>
                        <a:t>Recursively sort right.</a:t>
                      </a:r>
                    </a:p>
                    <a:p>
                      <a:r>
                        <a:rPr lang="en-US"/>
                        <a:t>Combine.</a:t>
                      </a:r>
                    </a:p>
                  </a:txBody>
                  <a:tcPr/>
                </a:tc>
                <a:tc>
                  <a:txBody>
                    <a:bodyPr/>
                    <a:lstStyle/>
                    <a:p>
                      <a:r>
                        <a:rPr lang="en-US"/>
                        <a:t>LL: Sort(A, 0, 0), A[0 to 0] = [4]</a:t>
                      </a:r>
                    </a:p>
                    <a:p>
                      <a:r>
                        <a:rPr lang="en-US"/>
                        <a:t>LR: Sort(A, 1, 1), A[1 to 1] = [3]</a:t>
                      </a:r>
                    </a:p>
                    <a:p>
                      <a:r>
                        <a:rPr lang="en-US"/>
                        <a:t>Put LL and LR into A[0 to 1]</a:t>
                      </a:r>
                    </a:p>
                  </a:txBody>
                  <a:tcPr/>
                </a:tc>
                <a:tc>
                  <a:txBody>
                    <a:bodyPr/>
                    <a:lstStyle/>
                    <a:p>
                      <a:r>
                        <a:rPr lang="en-US"/>
                        <a:t>LL sorts to [4]</a:t>
                      </a:r>
                    </a:p>
                    <a:p>
                      <a:r>
                        <a:rPr lang="en-US"/>
                        <a:t>LR sorts to [3]</a:t>
                      </a:r>
                    </a:p>
                    <a:p>
                      <a:r>
                        <a:rPr lang="en-US"/>
                        <a:t>A[0] = 3, A[1]  = 4.</a:t>
                      </a:r>
                    </a:p>
                  </a:txBody>
                  <a:tcPr/>
                </a:tc>
                <a:extLst>
                  <a:ext uri="{0D108BD9-81ED-4DB2-BD59-A6C34878D82A}">
                    <a16:rowId xmlns:a16="http://schemas.microsoft.com/office/drawing/2014/main" val="1391775164"/>
                  </a:ext>
                </a:extLst>
              </a:tr>
              <a:tr h="370840">
                <a:tc>
                  <a:txBody>
                    <a:bodyPr/>
                    <a:lstStyle/>
                    <a:p>
                      <a:pPr algn="ctr"/>
                      <a:r>
                        <a:rPr lang="en-US"/>
                        <a:t>LL, LR</a:t>
                      </a:r>
                    </a:p>
                  </a:txBody>
                  <a:tcPr anchor="ctr"/>
                </a:tc>
                <a:tc>
                  <a:txBody>
                    <a:bodyPr/>
                    <a:lstStyle/>
                    <a:p>
                      <a:pPr algn="ctr"/>
                      <a:r>
                        <a:rPr lang="en-US"/>
                        <a:t>-</a:t>
                      </a:r>
                    </a:p>
                  </a:txBody>
                  <a:tcPr anchor="ctr"/>
                </a:tc>
                <a:tc>
                  <a:txBody>
                    <a:bodyPr/>
                    <a:lstStyle/>
                    <a:p>
                      <a:r>
                        <a:rPr lang="en-US"/>
                        <a:t>left == right, do nothing.</a:t>
                      </a:r>
                    </a:p>
                  </a:txBody>
                  <a:tcPr/>
                </a:tc>
                <a:tc>
                  <a:txBody>
                    <a:bodyPr/>
                    <a:lstStyle/>
                    <a:p>
                      <a:r>
                        <a:rPr lang="en-US"/>
                        <a:t>-</a:t>
                      </a:r>
                    </a:p>
                  </a:txBody>
                  <a:tcPr/>
                </a:tc>
                <a:tc>
                  <a:txBody>
                    <a:bodyPr/>
                    <a:lstStyle/>
                    <a:p>
                      <a:r>
                        <a:rPr lang="en-US"/>
                        <a:t>-</a:t>
                      </a:r>
                    </a:p>
                  </a:txBody>
                  <a:tcPr/>
                </a:tc>
                <a:extLst>
                  <a:ext uri="{0D108BD9-81ED-4DB2-BD59-A6C34878D82A}">
                    <a16:rowId xmlns:a16="http://schemas.microsoft.com/office/drawing/2014/main" val="502722398"/>
                  </a:ext>
                </a:extLst>
              </a:tr>
              <a:tr h="370840">
                <a:tc>
                  <a:txBody>
                    <a:bodyPr/>
                    <a:lstStyle/>
                    <a:p>
                      <a:pPr algn="ctr"/>
                      <a:r>
                        <a:rPr lang="en-US"/>
                        <a:t>R</a:t>
                      </a:r>
                    </a:p>
                  </a:txBody>
                  <a:tcPr anchor="ctr"/>
                </a:tc>
                <a:tc>
                  <a:txBody>
                    <a:bodyPr/>
                    <a:lstStyle/>
                    <a:p>
                      <a:pPr algn="ctr"/>
                      <a:r>
                        <a:rPr lang="en-US"/>
                        <a:t>3</a:t>
                      </a:r>
                    </a:p>
                  </a:txBody>
                  <a:tcPr anchor="ctr"/>
                </a:tc>
                <a:tc>
                  <a:txBody>
                    <a:bodyPr/>
                    <a:lstStyle/>
                    <a:p>
                      <a:r>
                        <a:rPr lang="en-US"/>
                        <a:t>Recursively sort left.</a:t>
                      </a:r>
                    </a:p>
                    <a:p>
                      <a:r>
                        <a:rPr lang="en-US"/>
                        <a:t>Recursively sort right.</a:t>
                      </a:r>
                    </a:p>
                    <a:p>
                      <a:r>
                        <a:rPr lang="en-US"/>
                        <a:t>Combine.</a:t>
                      </a:r>
                    </a:p>
                  </a:txBody>
                  <a:tcPr/>
                </a:tc>
                <a:tc>
                  <a:txBody>
                    <a:bodyPr/>
                    <a:lstStyle/>
                    <a:p>
                      <a:r>
                        <a:rPr lang="en-US"/>
                        <a:t>RL: Sort(A, 2, 2), A[2 to 2] = [2]</a:t>
                      </a:r>
                    </a:p>
                    <a:p>
                      <a:r>
                        <a:rPr lang="en-US"/>
                        <a:t>RR: Sort(A, 3, 3), A[3 to 3] = [1]</a:t>
                      </a:r>
                    </a:p>
                    <a:p>
                      <a:r>
                        <a:rPr lang="en-US"/>
                        <a:t>Put RL and RR into A[3 to 4]</a:t>
                      </a:r>
                    </a:p>
                  </a:txBody>
                  <a:tcPr/>
                </a:tc>
                <a:tc>
                  <a:txBody>
                    <a:bodyPr/>
                    <a:lstStyle/>
                    <a:p>
                      <a:r>
                        <a:rPr lang="en-US"/>
                        <a:t>RL sorts to [2]</a:t>
                      </a:r>
                    </a:p>
                    <a:p>
                      <a:r>
                        <a:rPr lang="en-US"/>
                        <a:t>RR sorts to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A[1] = 1, A[3] = 2.</a:t>
                      </a:r>
                    </a:p>
                  </a:txBody>
                  <a:tcPr/>
                </a:tc>
                <a:extLst>
                  <a:ext uri="{0D108BD9-81ED-4DB2-BD59-A6C34878D82A}">
                    <a16:rowId xmlns:a16="http://schemas.microsoft.com/office/drawing/2014/main" val="337154335"/>
                  </a:ext>
                </a:extLst>
              </a:tr>
              <a:tr h="370840">
                <a:tc>
                  <a:txBody>
                    <a:bodyPr/>
                    <a:lstStyle/>
                    <a:p>
                      <a:pPr algn="ctr"/>
                      <a:r>
                        <a:rPr lang="en-US"/>
                        <a:t>RL, RR</a:t>
                      </a:r>
                    </a:p>
                  </a:txBody>
                  <a:tcPr anchor="ctr"/>
                </a:tc>
                <a:tc>
                  <a:txBody>
                    <a:bodyPr/>
                    <a:lstStyle/>
                    <a:p>
                      <a:pPr algn="ctr"/>
                      <a:r>
                        <a:rPr lang="en-US"/>
                        <a:t>-</a:t>
                      </a:r>
                    </a:p>
                  </a:txBody>
                  <a:tcPr anchor="ctr"/>
                </a:tc>
                <a:tc>
                  <a:txBody>
                    <a:bodyPr/>
                    <a:lstStyle/>
                    <a:p>
                      <a:r>
                        <a:rPr lang="en-US"/>
                        <a:t>left == right, do nothing.</a:t>
                      </a:r>
                    </a:p>
                  </a:txBody>
                  <a:tcPr/>
                </a:tc>
                <a:tc>
                  <a:txBody>
                    <a:bodyPr/>
                    <a:lstStyle/>
                    <a:p>
                      <a:r>
                        <a:rPr lang="en-US"/>
                        <a:t>-</a:t>
                      </a:r>
                    </a:p>
                  </a:txBody>
                  <a:tcPr/>
                </a:tc>
                <a:tc>
                  <a:txBody>
                    <a:bodyPr/>
                    <a:lstStyle/>
                    <a:p>
                      <a:r>
                        <a:rPr lang="en-US"/>
                        <a:t>-</a:t>
                      </a:r>
                    </a:p>
                  </a:txBody>
                  <a:tcPr/>
                </a:tc>
                <a:extLst>
                  <a:ext uri="{0D108BD9-81ED-4DB2-BD59-A6C34878D82A}">
                    <a16:rowId xmlns:a16="http://schemas.microsoft.com/office/drawing/2014/main" val="224334532"/>
                  </a:ext>
                </a:extLst>
              </a:tr>
            </a:tbl>
          </a:graphicData>
        </a:graphic>
      </p:graphicFrame>
    </p:spTree>
    <p:extLst>
      <p:ext uri="{BB962C8B-B14F-4D97-AF65-F5344CB8AC3E}">
        <p14:creationId xmlns:p14="http://schemas.microsoft.com/office/powerpoint/2010/main" val="908515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53264-A630-D0FD-19F6-1517C6E55242}"/>
              </a:ext>
            </a:extLst>
          </p:cNvPr>
          <p:cNvSpPr>
            <a:spLocks noGrp="1"/>
          </p:cNvSpPr>
          <p:nvPr>
            <p:ph type="title"/>
          </p:nvPr>
        </p:nvSpPr>
        <p:spPr>
          <a:xfrm>
            <a:off x="838200" y="124493"/>
            <a:ext cx="10515600" cy="1325563"/>
          </a:xfrm>
        </p:spPr>
        <p:txBody>
          <a:bodyPr/>
          <a:lstStyle/>
          <a:p>
            <a:r>
              <a:rPr lang="en-US"/>
              <a:t>Sorting A = [5, 2, 4, 1, 3]</a:t>
            </a:r>
          </a:p>
        </p:txBody>
      </p:sp>
      <p:graphicFrame>
        <p:nvGraphicFramePr>
          <p:cNvPr id="4" name="Content Placeholder 3">
            <a:extLst>
              <a:ext uri="{FF2B5EF4-FFF2-40B4-BE49-F238E27FC236}">
                <a16:creationId xmlns:a16="http://schemas.microsoft.com/office/drawing/2014/main" id="{CAA2AFE2-89E8-763D-5F0B-137E3BEFA4ED}"/>
              </a:ext>
            </a:extLst>
          </p:cNvPr>
          <p:cNvGraphicFramePr>
            <a:graphicFrameLocks noGrp="1"/>
          </p:cNvGraphicFramePr>
          <p:nvPr>
            <p:ph idx="1"/>
            <p:extLst>
              <p:ext uri="{D42A27DB-BD31-4B8C-83A1-F6EECF244321}">
                <p14:modId xmlns:p14="http://schemas.microsoft.com/office/powerpoint/2010/main" val="3566907714"/>
              </p:ext>
            </p:extLst>
          </p:nvPr>
        </p:nvGraphicFramePr>
        <p:xfrm>
          <a:off x="469231" y="1221707"/>
          <a:ext cx="11032958" cy="5140960"/>
        </p:xfrm>
        <a:graphic>
          <a:graphicData uri="http://schemas.openxmlformats.org/drawingml/2006/table">
            <a:tbl>
              <a:tblPr firstRow="1" bandRow="1">
                <a:tableStyleId>{5C22544A-7EE6-4342-B048-85BDC9FD1C3A}</a:tableStyleId>
              </a:tblPr>
              <a:tblGrid>
                <a:gridCol w="1155032">
                  <a:extLst>
                    <a:ext uri="{9D8B030D-6E8A-4147-A177-3AD203B41FA5}">
                      <a16:colId xmlns:a16="http://schemas.microsoft.com/office/drawing/2014/main" val="3513389642"/>
                    </a:ext>
                  </a:extLst>
                </a:gridCol>
                <a:gridCol w="577516">
                  <a:extLst>
                    <a:ext uri="{9D8B030D-6E8A-4147-A177-3AD203B41FA5}">
                      <a16:colId xmlns:a16="http://schemas.microsoft.com/office/drawing/2014/main" val="3575525318"/>
                    </a:ext>
                  </a:extLst>
                </a:gridCol>
                <a:gridCol w="2526632">
                  <a:extLst>
                    <a:ext uri="{9D8B030D-6E8A-4147-A177-3AD203B41FA5}">
                      <a16:colId xmlns:a16="http://schemas.microsoft.com/office/drawing/2014/main" val="3180003390"/>
                    </a:ext>
                  </a:extLst>
                </a:gridCol>
                <a:gridCol w="3561347">
                  <a:extLst>
                    <a:ext uri="{9D8B030D-6E8A-4147-A177-3AD203B41FA5}">
                      <a16:colId xmlns:a16="http://schemas.microsoft.com/office/drawing/2014/main" val="1839875908"/>
                    </a:ext>
                  </a:extLst>
                </a:gridCol>
                <a:gridCol w="3212431">
                  <a:extLst>
                    <a:ext uri="{9D8B030D-6E8A-4147-A177-3AD203B41FA5}">
                      <a16:colId xmlns:a16="http://schemas.microsoft.com/office/drawing/2014/main" val="1366641724"/>
                    </a:ext>
                  </a:extLst>
                </a:gridCol>
              </a:tblGrid>
              <a:tr h="370840">
                <a:tc>
                  <a:txBody>
                    <a:bodyPr/>
                    <a:lstStyle/>
                    <a:p>
                      <a:pPr algn="l"/>
                      <a:r>
                        <a:rPr lang="en-US"/>
                        <a:t>Path</a:t>
                      </a:r>
                    </a:p>
                  </a:txBody>
                  <a:tcPr anchor="ctr"/>
                </a:tc>
                <a:tc>
                  <a:txBody>
                    <a:bodyPr/>
                    <a:lstStyle/>
                    <a:p>
                      <a:pPr algn="ctr"/>
                      <a:r>
                        <a:rPr lang="en-US"/>
                        <a:t>mid</a:t>
                      </a:r>
                    </a:p>
                  </a:txBody>
                  <a:tcPr anchor="ctr"/>
                </a:tc>
                <a:tc>
                  <a:txBody>
                    <a:bodyPr/>
                    <a:lstStyle/>
                    <a:p>
                      <a:r>
                        <a:rPr lang="en-US"/>
                        <a:t>Directions</a:t>
                      </a:r>
                    </a:p>
                  </a:txBody>
                  <a:tcPr/>
                </a:tc>
                <a:tc>
                  <a:txBody>
                    <a:bodyPr/>
                    <a:lstStyle/>
                    <a:p>
                      <a:r>
                        <a:rPr lang="en-US"/>
                        <a:t>Actions</a:t>
                      </a:r>
                    </a:p>
                  </a:txBody>
                  <a:tcPr/>
                </a:tc>
                <a:tc>
                  <a:txBody>
                    <a:bodyPr/>
                    <a:lstStyle/>
                    <a:p>
                      <a:r>
                        <a:rPr lang="en-US"/>
                        <a:t>Results</a:t>
                      </a:r>
                    </a:p>
                  </a:txBody>
                  <a:tcPr/>
                </a:tc>
                <a:extLst>
                  <a:ext uri="{0D108BD9-81ED-4DB2-BD59-A6C34878D82A}">
                    <a16:rowId xmlns:a16="http://schemas.microsoft.com/office/drawing/2014/main" val="2593959123"/>
                  </a:ext>
                </a:extLst>
              </a:tr>
              <a:tr h="370840">
                <a:tc>
                  <a:txBody>
                    <a:bodyPr/>
                    <a:lstStyle/>
                    <a:p>
                      <a:pPr algn="ctr"/>
                      <a:r>
                        <a:rPr lang="en-US"/>
                        <a:t>-</a:t>
                      </a:r>
                    </a:p>
                  </a:txBody>
                  <a:tcPr anchor="ctr"/>
                </a:tc>
                <a:tc>
                  <a:txBody>
                    <a:bodyPr/>
                    <a:lstStyle/>
                    <a:p>
                      <a:pPr algn="ctr"/>
                      <a:r>
                        <a:rPr lang="en-US"/>
                        <a:t>2</a:t>
                      </a:r>
                    </a:p>
                  </a:txBody>
                  <a:tcPr anchor="ctr"/>
                </a:tc>
                <a:tc>
                  <a:txBody>
                    <a:bodyPr/>
                    <a:lstStyle/>
                    <a:p>
                      <a:r>
                        <a:rPr lang="en-US"/>
                        <a:t>Recurse and sort left.</a:t>
                      </a:r>
                    </a:p>
                    <a:p>
                      <a:r>
                        <a:rPr lang="en-US"/>
                        <a:t>Recurse and sort right.</a:t>
                      </a:r>
                    </a:p>
                    <a:p>
                      <a:r>
                        <a:rPr lang="en-US"/>
                        <a:t>Combine.</a:t>
                      </a:r>
                    </a:p>
                  </a:txBody>
                  <a:tcPr/>
                </a:tc>
                <a:tc>
                  <a:txBody>
                    <a:bodyPr/>
                    <a:lstStyle/>
                    <a:p>
                      <a:r>
                        <a:rPr lang="en-US"/>
                        <a:t>L: Sort(A, 0, 2), A[0 to 2] = [5, 2, 4]</a:t>
                      </a:r>
                    </a:p>
                    <a:p>
                      <a:r>
                        <a:rPr lang="en-US"/>
                        <a:t>R: Sort(A, 3, 4), A[3 to 4] = [1, 3]</a:t>
                      </a:r>
                    </a:p>
                    <a:p>
                      <a:r>
                        <a:rPr lang="en-US"/>
                        <a:t>Put L and R into A[0 to 4]</a:t>
                      </a:r>
                    </a:p>
                  </a:txBody>
                  <a:tcPr/>
                </a:tc>
                <a:tc>
                  <a:txBody>
                    <a:bodyPr/>
                    <a:lstStyle/>
                    <a:p>
                      <a:r>
                        <a:rPr lang="en-US"/>
                        <a:t>L sorts to [2, 4, 5]</a:t>
                      </a:r>
                    </a:p>
                    <a:p>
                      <a:r>
                        <a:rPr lang="en-US"/>
                        <a:t>R sorts to [1, 3]</a:t>
                      </a:r>
                    </a:p>
                    <a:p>
                      <a:r>
                        <a:rPr lang="en-US"/>
                        <a:t>A = [1, 2, 3, 4, 5] Final result.</a:t>
                      </a:r>
                    </a:p>
                  </a:txBody>
                  <a:tcPr/>
                </a:tc>
                <a:extLst>
                  <a:ext uri="{0D108BD9-81ED-4DB2-BD59-A6C34878D82A}">
                    <a16:rowId xmlns:a16="http://schemas.microsoft.com/office/drawing/2014/main" val="552202649"/>
                  </a:ext>
                </a:extLst>
              </a:tr>
              <a:tr h="370840">
                <a:tc>
                  <a:txBody>
                    <a:bodyPr/>
                    <a:lstStyle/>
                    <a:p>
                      <a:pPr algn="ctr"/>
                      <a:r>
                        <a:rPr lang="en-US"/>
                        <a:t>L</a:t>
                      </a:r>
                    </a:p>
                  </a:txBody>
                  <a:tcPr anchor="ctr"/>
                </a:tc>
                <a:tc>
                  <a:txBody>
                    <a:bodyPr/>
                    <a:lstStyle/>
                    <a:p>
                      <a:pPr algn="ctr"/>
                      <a:r>
                        <a:rPr lang="en-US"/>
                        <a:t>1</a:t>
                      </a:r>
                    </a:p>
                  </a:txBody>
                  <a:tcPr anchor="ctr"/>
                </a:tc>
                <a:tc>
                  <a:txBody>
                    <a:bodyPr/>
                    <a:lstStyle/>
                    <a:p>
                      <a:r>
                        <a:rPr lang="en-US"/>
                        <a:t>Recursively sort left.</a:t>
                      </a:r>
                    </a:p>
                    <a:p>
                      <a:r>
                        <a:rPr lang="en-US"/>
                        <a:t>Recursively sort right.</a:t>
                      </a:r>
                    </a:p>
                    <a:p>
                      <a:r>
                        <a:rPr lang="en-US"/>
                        <a:t>Combine.</a:t>
                      </a:r>
                    </a:p>
                  </a:txBody>
                  <a:tcPr/>
                </a:tc>
                <a:tc>
                  <a:txBody>
                    <a:bodyPr/>
                    <a:lstStyle/>
                    <a:p>
                      <a:r>
                        <a:rPr lang="en-US"/>
                        <a:t>LL: Sort(A, 0, 1), A[0 to 1] = [5, 2]</a:t>
                      </a:r>
                    </a:p>
                    <a:p>
                      <a:r>
                        <a:rPr lang="en-US"/>
                        <a:t>LR: Sort(A, 2, 2), A[2 to 2] = [4]</a:t>
                      </a:r>
                    </a:p>
                    <a:p>
                      <a:r>
                        <a:rPr lang="en-US"/>
                        <a:t>Put LL and LR into A[0 to 2]</a:t>
                      </a:r>
                    </a:p>
                  </a:txBody>
                  <a:tcPr/>
                </a:tc>
                <a:tc>
                  <a:txBody>
                    <a:bodyPr/>
                    <a:lstStyle/>
                    <a:p>
                      <a:r>
                        <a:rPr lang="en-US"/>
                        <a:t>LL sorts to [2, 5]</a:t>
                      </a:r>
                    </a:p>
                    <a:p>
                      <a:r>
                        <a:rPr lang="en-US"/>
                        <a:t>LR sorts to [4]</a:t>
                      </a:r>
                    </a:p>
                    <a:p>
                      <a:r>
                        <a:rPr lang="en-US"/>
                        <a:t>A[0] = 2, A[1]  = 4, A[2] = 5.</a:t>
                      </a:r>
                    </a:p>
                  </a:txBody>
                  <a:tcPr/>
                </a:tc>
                <a:extLst>
                  <a:ext uri="{0D108BD9-81ED-4DB2-BD59-A6C34878D82A}">
                    <a16:rowId xmlns:a16="http://schemas.microsoft.com/office/drawing/2014/main" val="951636700"/>
                  </a:ext>
                </a:extLst>
              </a:tr>
              <a:tr h="370840">
                <a:tc>
                  <a:txBody>
                    <a:bodyPr/>
                    <a:lstStyle/>
                    <a:p>
                      <a:pPr algn="ctr"/>
                      <a:r>
                        <a:rPr lang="en-US"/>
                        <a:t>LL</a:t>
                      </a:r>
                    </a:p>
                  </a:txBody>
                  <a:tcPr anchor="ctr"/>
                </a:tc>
                <a:tc>
                  <a:txBody>
                    <a:bodyPr/>
                    <a:lstStyle/>
                    <a:p>
                      <a:pPr algn="ctr"/>
                      <a:r>
                        <a:rPr lang="en-US"/>
                        <a:t>0</a:t>
                      </a:r>
                    </a:p>
                  </a:txBody>
                  <a:tcPr anchor="ctr"/>
                </a:tc>
                <a:tc>
                  <a:txBody>
                    <a:bodyPr/>
                    <a:lstStyle/>
                    <a:p>
                      <a:r>
                        <a:rPr lang="en-US"/>
                        <a:t>Recursively sort left.</a:t>
                      </a:r>
                    </a:p>
                    <a:p>
                      <a:r>
                        <a:rPr lang="en-US"/>
                        <a:t>Recursively sort right.</a:t>
                      </a:r>
                    </a:p>
                    <a:p>
                      <a:r>
                        <a:rPr lang="en-US"/>
                        <a:t>Combine.</a:t>
                      </a:r>
                    </a:p>
                  </a:txBody>
                  <a:tcPr/>
                </a:tc>
                <a:tc>
                  <a:txBody>
                    <a:bodyPr/>
                    <a:lstStyle/>
                    <a:p>
                      <a:r>
                        <a:rPr lang="en-US"/>
                        <a:t>LLL: Sort(A, 0, 0), A[0 to 0] = [5]</a:t>
                      </a:r>
                    </a:p>
                    <a:p>
                      <a:r>
                        <a:rPr lang="en-US"/>
                        <a:t>LLR: Sort(A, 1, 1), A[1 to 1] = [2]</a:t>
                      </a:r>
                    </a:p>
                    <a:p>
                      <a:r>
                        <a:rPr lang="en-US"/>
                        <a:t>Put LLL and LLR into A[0 to 1]</a:t>
                      </a:r>
                    </a:p>
                  </a:txBody>
                  <a:tcPr/>
                </a:tc>
                <a:tc>
                  <a:txBody>
                    <a:bodyPr/>
                    <a:lstStyle/>
                    <a:p>
                      <a:r>
                        <a:rPr lang="en-US"/>
                        <a:t>LLL sorts to [5]</a:t>
                      </a:r>
                    </a:p>
                    <a:p>
                      <a:r>
                        <a:rPr lang="en-US"/>
                        <a:t>LLR sorts to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A[0] = 2, A[1] = 5.</a:t>
                      </a:r>
                    </a:p>
                  </a:txBody>
                  <a:tcPr/>
                </a:tc>
                <a:extLst>
                  <a:ext uri="{0D108BD9-81ED-4DB2-BD59-A6C34878D82A}">
                    <a16:rowId xmlns:a16="http://schemas.microsoft.com/office/drawing/2014/main" val="3745989196"/>
                  </a:ext>
                </a:extLst>
              </a:tr>
              <a:tr h="370840">
                <a:tc>
                  <a:txBody>
                    <a:bodyPr/>
                    <a:lstStyle/>
                    <a:p>
                      <a:pPr algn="ctr"/>
                      <a:r>
                        <a:rPr lang="en-US"/>
                        <a:t>LLL, LLR</a:t>
                      </a:r>
                    </a:p>
                  </a:txBody>
                  <a:tcPr anchor="ctr"/>
                </a:tc>
                <a:tc>
                  <a:txBody>
                    <a:bodyPr/>
                    <a:lstStyle/>
                    <a:p>
                      <a:pPr algn="ctr"/>
                      <a:r>
                        <a:rPr lang="en-US"/>
                        <a:t>-</a:t>
                      </a:r>
                    </a:p>
                  </a:txBody>
                  <a:tcPr anchor="ctr"/>
                </a:tc>
                <a:tc>
                  <a:txBody>
                    <a:bodyPr/>
                    <a:lstStyle/>
                    <a:p>
                      <a:r>
                        <a:rPr lang="en-US"/>
                        <a:t>left == right, do nothing.</a:t>
                      </a:r>
                    </a:p>
                  </a:txBody>
                  <a:tcPr/>
                </a:tc>
                <a:tc>
                  <a:txBody>
                    <a:bodyPr/>
                    <a:lstStyle/>
                    <a:p>
                      <a:r>
                        <a:rPr lang="en-US"/>
                        <a:t>-</a:t>
                      </a:r>
                    </a:p>
                  </a:txBody>
                  <a:tcPr/>
                </a:tc>
                <a:tc>
                  <a:txBody>
                    <a:bodyPr/>
                    <a:lstStyle/>
                    <a:p>
                      <a:r>
                        <a:rPr lang="en-US"/>
                        <a:t>-</a:t>
                      </a:r>
                    </a:p>
                  </a:txBody>
                  <a:tcPr/>
                </a:tc>
                <a:extLst>
                  <a:ext uri="{0D108BD9-81ED-4DB2-BD59-A6C34878D82A}">
                    <a16:rowId xmlns:a16="http://schemas.microsoft.com/office/drawing/2014/main" val="3764365894"/>
                  </a:ext>
                </a:extLst>
              </a:tr>
              <a:tr h="370840">
                <a:tc>
                  <a:txBody>
                    <a:bodyPr/>
                    <a:lstStyle/>
                    <a:p>
                      <a:pPr algn="ctr"/>
                      <a:r>
                        <a:rPr lang="en-US"/>
                        <a:t>LR</a:t>
                      </a:r>
                    </a:p>
                  </a:txBody>
                  <a:tcPr anchor="ctr"/>
                </a:tc>
                <a:tc>
                  <a:txBody>
                    <a:bodyPr/>
                    <a:lstStyle/>
                    <a:p>
                      <a:pPr algn="ctr"/>
                      <a:r>
                        <a:rPr lang="en-US"/>
                        <a:t>-</a:t>
                      </a:r>
                    </a:p>
                  </a:txBody>
                  <a:tcPr anchor="ctr"/>
                </a:tc>
                <a:tc>
                  <a:txBody>
                    <a:bodyPr/>
                    <a:lstStyle/>
                    <a:p>
                      <a:r>
                        <a:rPr lang="en-US"/>
                        <a:t>left == right, do nothing.</a:t>
                      </a:r>
                    </a:p>
                  </a:txBody>
                  <a:tcPr/>
                </a:tc>
                <a:tc>
                  <a:txBody>
                    <a:bodyPr/>
                    <a:lstStyle/>
                    <a:p>
                      <a:r>
                        <a:rPr lang="en-US"/>
                        <a:t>-</a:t>
                      </a:r>
                    </a:p>
                  </a:txBody>
                  <a:tcPr/>
                </a:tc>
                <a:tc>
                  <a:txBody>
                    <a:bodyPr/>
                    <a:lstStyle/>
                    <a:p>
                      <a:r>
                        <a:rPr lang="en-US"/>
                        <a:t>-</a:t>
                      </a:r>
                    </a:p>
                  </a:txBody>
                  <a:tcPr/>
                </a:tc>
                <a:extLst>
                  <a:ext uri="{0D108BD9-81ED-4DB2-BD59-A6C34878D82A}">
                    <a16:rowId xmlns:a16="http://schemas.microsoft.com/office/drawing/2014/main" val="1916685104"/>
                  </a:ext>
                </a:extLst>
              </a:tr>
              <a:tr h="370840">
                <a:tc>
                  <a:txBody>
                    <a:bodyPr/>
                    <a:lstStyle/>
                    <a:p>
                      <a:pPr algn="ctr"/>
                      <a:r>
                        <a:rPr lang="en-US"/>
                        <a:t>R</a:t>
                      </a:r>
                    </a:p>
                  </a:txBody>
                  <a:tcPr anchor="ctr"/>
                </a:tc>
                <a:tc>
                  <a:txBody>
                    <a:bodyPr/>
                    <a:lstStyle/>
                    <a:p>
                      <a:pPr algn="ctr"/>
                      <a:r>
                        <a:rPr lang="en-US"/>
                        <a:t>3</a:t>
                      </a:r>
                    </a:p>
                  </a:txBody>
                  <a:tcPr anchor="ctr"/>
                </a:tc>
                <a:tc>
                  <a:txBody>
                    <a:bodyPr/>
                    <a:lstStyle/>
                    <a:p>
                      <a:r>
                        <a:rPr lang="en-US"/>
                        <a:t>Recursively sort left.</a:t>
                      </a:r>
                    </a:p>
                    <a:p>
                      <a:r>
                        <a:rPr lang="en-US"/>
                        <a:t>Recursively sort right.</a:t>
                      </a:r>
                    </a:p>
                    <a:p>
                      <a:r>
                        <a:rPr lang="en-US"/>
                        <a:t>Combine.</a:t>
                      </a:r>
                    </a:p>
                  </a:txBody>
                  <a:tcPr/>
                </a:tc>
                <a:tc>
                  <a:txBody>
                    <a:bodyPr/>
                    <a:lstStyle/>
                    <a:p>
                      <a:r>
                        <a:rPr lang="en-US"/>
                        <a:t>RL: Sort(A, 3, 3), A[3 to 3] = [1]</a:t>
                      </a:r>
                    </a:p>
                    <a:p>
                      <a:r>
                        <a:rPr lang="en-US"/>
                        <a:t>RR: Sort(A, 4, 4), A[4 to 4] = [3]</a:t>
                      </a:r>
                    </a:p>
                    <a:p>
                      <a:r>
                        <a:rPr lang="en-US"/>
                        <a:t>Put RL and RR into A[3 to 4]</a:t>
                      </a:r>
                    </a:p>
                  </a:txBody>
                  <a:tcPr/>
                </a:tc>
                <a:tc>
                  <a:txBody>
                    <a:bodyPr/>
                    <a:lstStyle/>
                    <a:p>
                      <a:r>
                        <a:rPr lang="en-US"/>
                        <a:t>RL sorts to [1]</a:t>
                      </a:r>
                    </a:p>
                    <a:p>
                      <a:r>
                        <a:rPr lang="en-US"/>
                        <a:t>RR sorts to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A[3] = 1, A[4] = 3.</a:t>
                      </a:r>
                    </a:p>
                  </a:txBody>
                  <a:tcPr/>
                </a:tc>
                <a:extLst>
                  <a:ext uri="{0D108BD9-81ED-4DB2-BD59-A6C34878D82A}">
                    <a16:rowId xmlns:a16="http://schemas.microsoft.com/office/drawing/2014/main" val="3257438120"/>
                  </a:ext>
                </a:extLst>
              </a:tr>
              <a:tr h="370840">
                <a:tc>
                  <a:txBody>
                    <a:bodyPr/>
                    <a:lstStyle/>
                    <a:p>
                      <a:pPr algn="ctr"/>
                      <a:r>
                        <a:rPr lang="en-US"/>
                        <a:t>RL, RR</a:t>
                      </a:r>
                    </a:p>
                  </a:txBody>
                  <a:tcPr anchor="ctr"/>
                </a:tc>
                <a:tc>
                  <a:txBody>
                    <a:bodyPr/>
                    <a:lstStyle/>
                    <a:p>
                      <a:pPr algn="ctr"/>
                      <a:r>
                        <a:rPr lang="en-US"/>
                        <a:t>-</a:t>
                      </a:r>
                    </a:p>
                  </a:txBody>
                  <a:tcPr anchor="ctr"/>
                </a:tc>
                <a:tc>
                  <a:txBody>
                    <a:bodyPr/>
                    <a:lstStyle/>
                    <a:p>
                      <a:r>
                        <a:rPr lang="en-US"/>
                        <a:t>left == right, do nothing.</a:t>
                      </a:r>
                    </a:p>
                  </a:txBody>
                  <a:tcPr/>
                </a:tc>
                <a:tc>
                  <a:txBody>
                    <a:bodyPr/>
                    <a:lstStyle/>
                    <a:p>
                      <a:r>
                        <a:rPr lang="en-US"/>
                        <a:t>-</a:t>
                      </a:r>
                    </a:p>
                  </a:txBody>
                  <a:tcPr/>
                </a:tc>
                <a:tc>
                  <a:txBody>
                    <a:bodyPr/>
                    <a:lstStyle/>
                    <a:p>
                      <a:r>
                        <a:rPr lang="en-US"/>
                        <a:t>-</a:t>
                      </a:r>
                    </a:p>
                  </a:txBody>
                  <a:tcPr/>
                </a:tc>
                <a:extLst>
                  <a:ext uri="{0D108BD9-81ED-4DB2-BD59-A6C34878D82A}">
                    <a16:rowId xmlns:a16="http://schemas.microsoft.com/office/drawing/2014/main" val="4165150324"/>
                  </a:ext>
                </a:extLst>
              </a:tr>
            </a:tbl>
          </a:graphicData>
        </a:graphic>
      </p:graphicFrame>
    </p:spTree>
    <p:extLst>
      <p:ext uri="{BB962C8B-B14F-4D97-AF65-F5344CB8AC3E}">
        <p14:creationId xmlns:p14="http://schemas.microsoft.com/office/powerpoint/2010/main" val="578097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B7B2D-EC38-93BD-B2DA-80B0977062FE}"/>
              </a:ext>
            </a:extLst>
          </p:cNvPr>
          <p:cNvSpPr>
            <a:spLocks noGrp="1"/>
          </p:cNvSpPr>
          <p:nvPr>
            <p:ph type="title"/>
          </p:nvPr>
        </p:nvSpPr>
        <p:spPr/>
        <p:txBody>
          <a:bodyPr/>
          <a:lstStyle/>
          <a:p>
            <a:r>
              <a:rPr lang="en-US"/>
              <a:t>Calculate Merge Sort Time Complexity</a:t>
            </a:r>
          </a:p>
        </p:txBody>
      </p:sp>
      <p:sp>
        <p:nvSpPr>
          <p:cNvPr id="3" name="Content Placeholder 2">
            <a:extLst>
              <a:ext uri="{FF2B5EF4-FFF2-40B4-BE49-F238E27FC236}">
                <a16:creationId xmlns:a16="http://schemas.microsoft.com/office/drawing/2014/main" id="{8D3453C7-D618-A184-65E1-D7BD21A44303}"/>
              </a:ext>
            </a:extLst>
          </p:cNvPr>
          <p:cNvSpPr>
            <a:spLocks noGrp="1"/>
          </p:cNvSpPr>
          <p:nvPr>
            <p:ph idx="1"/>
          </p:nvPr>
        </p:nvSpPr>
        <p:spPr>
          <a:xfrm>
            <a:off x="838199" y="1825625"/>
            <a:ext cx="10976811" cy="4351338"/>
          </a:xfrm>
        </p:spPr>
        <p:txBody>
          <a:bodyPr/>
          <a:lstStyle/>
          <a:p>
            <a:r>
              <a:rPr lang="en-US"/>
              <a:t>How do we calculate time complexity with recursion?</a:t>
            </a:r>
          </a:p>
          <a:p>
            <a:pPr lvl="1"/>
            <a:r>
              <a:rPr lang="en-US"/>
              <a:t>Divide: Use left and right variable to split the array, constant time: O(1).</a:t>
            </a:r>
          </a:p>
          <a:p>
            <a:pPr lvl="1"/>
            <a:r>
              <a:rPr lang="en-US"/>
              <a:t>Conquer: Two recursive calls, each with half the original array.</a:t>
            </a:r>
          </a:p>
          <a:p>
            <a:pPr lvl="2"/>
            <a:r>
              <a:rPr lang="en-US"/>
              <a:t>Let T(n) denote the running time. We need to run half the array twice: 2T(n/2).</a:t>
            </a:r>
          </a:p>
          <a:p>
            <a:pPr lvl="1"/>
            <a:r>
              <a:rPr lang="en-US"/>
              <a:t>Combine: Iterate through two half arrays to populate the whole: O(n).</a:t>
            </a:r>
          </a:p>
          <a:p>
            <a:pPr lvl="1"/>
            <a:r>
              <a:rPr lang="en-US"/>
              <a:t>T(n) = 2T(n/2) + O(n) – Requires Master Theorem (Algorithms Topic)</a:t>
            </a:r>
          </a:p>
          <a:p>
            <a:pPr lvl="2"/>
            <a:r>
              <a:rPr lang="en-US"/>
              <a:t>Run time for size n = 2*(run time for size n/2) + n</a:t>
            </a:r>
          </a:p>
          <a:p>
            <a:pPr lvl="2"/>
            <a:r>
              <a:rPr lang="en-US"/>
              <a:t>Master Theorem helps define asymptotic behavior based on recursive growth.</a:t>
            </a:r>
          </a:p>
          <a:p>
            <a:pPr lvl="2"/>
            <a:endParaRPr lang="en-US"/>
          </a:p>
          <a:p>
            <a:r>
              <a:rPr lang="en-US"/>
              <a:t>Instead, we can do a more visual analysis to get an idea.</a:t>
            </a:r>
          </a:p>
        </p:txBody>
      </p:sp>
    </p:spTree>
    <p:extLst>
      <p:ext uri="{BB962C8B-B14F-4D97-AF65-F5344CB8AC3E}">
        <p14:creationId xmlns:p14="http://schemas.microsoft.com/office/powerpoint/2010/main" val="1888552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31A4B-3857-1C12-C082-F0B9B0282957}"/>
              </a:ext>
            </a:extLst>
          </p:cNvPr>
          <p:cNvSpPr>
            <a:spLocks noGrp="1"/>
          </p:cNvSpPr>
          <p:nvPr>
            <p:ph type="title"/>
          </p:nvPr>
        </p:nvSpPr>
        <p:spPr/>
        <p:txBody>
          <a:bodyPr/>
          <a:lstStyle/>
          <a:p>
            <a:r>
              <a:rPr lang="en-US"/>
              <a:t>Visual Analysis for Time Complexity</a:t>
            </a:r>
          </a:p>
        </p:txBody>
      </p:sp>
      <p:sp>
        <p:nvSpPr>
          <p:cNvPr id="3" name="Content Placeholder 2">
            <a:extLst>
              <a:ext uri="{FF2B5EF4-FFF2-40B4-BE49-F238E27FC236}">
                <a16:creationId xmlns:a16="http://schemas.microsoft.com/office/drawing/2014/main" id="{9DC64F6E-C40D-D67A-9D9C-2AFEBB3715A7}"/>
              </a:ext>
            </a:extLst>
          </p:cNvPr>
          <p:cNvSpPr>
            <a:spLocks noGrp="1"/>
          </p:cNvSpPr>
          <p:nvPr>
            <p:ph idx="1"/>
          </p:nvPr>
        </p:nvSpPr>
        <p:spPr/>
        <p:txBody>
          <a:bodyPr/>
          <a:lstStyle/>
          <a:p>
            <a:r>
              <a:rPr lang="en-US"/>
              <a:t>Merge Sort recursively splits the array in half, creating a structure:</a:t>
            </a:r>
          </a:p>
          <a:p>
            <a:endParaRPr lang="en-US"/>
          </a:p>
          <a:p>
            <a:endParaRPr lang="en-US"/>
          </a:p>
          <a:p>
            <a:r>
              <a:rPr lang="en-US"/>
              <a:t>This has </a:t>
            </a:r>
            <a:r>
              <a:rPr lang="en-US" b="1"/>
              <a:t>lg n</a:t>
            </a:r>
            <a:r>
              <a:rPr lang="en-US"/>
              <a:t> levels since we divide by two each time.</a:t>
            </a:r>
          </a:p>
          <a:p>
            <a:r>
              <a:rPr lang="en-US"/>
              <a:t>At each level, the algorithm performs O(n) operations</a:t>
            </a:r>
          </a:p>
          <a:p>
            <a:pPr lvl="1"/>
            <a:r>
              <a:rPr lang="en-US"/>
              <a:t>Linear scan + comparisons</a:t>
            </a:r>
          </a:p>
          <a:p>
            <a:r>
              <a:rPr lang="en-US"/>
              <a:t>Total Work = Work per level * Number of Levels:</a:t>
            </a:r>
            <a:br>
              <a:rPr lang="en-US"/>
            </a:br>
            <a:r>
              <a:rPr lang="en-US"/>
              <a:t>O(n) * O(lg n) = O(n lg n)</a:t>
            </a:r>
          </a:p>
        </p:txBody>
      </p:sp>
      <p:sp>
        <p:nvSpPr>
          <p:cNvPr id="4" name="TextBox 3">
            <a:extLst>
              <a:ext uri="{FF2B5EF4-FFF2-40B4-BE49-F238E27FC236}">
                <a16:creationId xmlns:a16="http://schemas.microsoft.com/office/drawing/2014/main" id="{7BAF97D3-0EF2-E287-566D-EBDBDE198603}"/>
              </a:ext>
            </a:extLst>
          </p:cNvPr>
          <p:cNvSpPr txBox="1"/>
          <p:nvPr/>
        </p:nvSpPr>
        <p:spPr>
          <a:xfrm>
            <a:off x="2207793" y="2228671"/>
            <a:ext cx="6298533" cy="1200329"/>
          </a:xfrm>
          <a:prstGeom prst="rect">
            <a:avLst/>
          </a:prstGeom>
          <a:noFill/>
        </p:spPr>
        <p:txBody>
          <a:bodyPr wrap="square" rtlCol="0">
            <a:spAutoFit/>
          </a:bodyPr>
          <a:lstStyle/>
          <a:p>
            <a:r>
              <a:rPr lang="en-US">
                <a:latin typeface="Courier New" panose="02070309020205020404" pitchFamily="49" charset="0"/>
                <a:cs typeface="Courier New" panose="02070309020205020404" pitchFamily="49" charset="0"/>
              </a:rPr>
              <a:t>Level 0: [8 elements]  </a:t>
            </a:r>
          </a:p>
          <a:p>
            <a:r>
              <a:rPr lang="en-US">
                <a:latin typeface="Courier New" panose="02070309020205020404" pitchFamily="49" charset="0"/>
                <a:cs typeface="Courier New" panose="02070309020205020404" pitchFamily="49" charset="0"/>
              </a:rPr>
              <a:t>Level 1: [4] [4]  </a:t>
            </a:r>
          </a:p>
          <a:p>
            <a:r>
              <a:rPr lang="en-US">
                <a:latin typeface="Courier New" panose="02070309020205020404" pitchFamily="49" charset="0"/>
                <a:cs typeface="Courier New" panose="02070309020205020404" pitchFamily="49" charset="0"/>
              </a:rPr>
              <a:t>Level 2: [2] [2] [2] [2]  </a:t>
            </a:r>
          </a:p>
          <a:p>
            <a:r>
              <a:rPr lang="en-US">
                <a:latin typeface="Courier New" panose="02070309020205020404" pitchFamily="49" charset="0"/>
                <a:cs typeface="Courier New" panose="02070309020205020404" pitchFamily="49" charset="0"/>
              </a:rPr>
              <a:t>Level 3: [1] [1] [1] [1] [1] [1] [1] [1] </a:t>
            </a:r>
          </a:p>
        </p:txBody>
      </p:sp>
    </p:spTree>
    <p:extLst>
      <p:ext uri="{BB962C8B-B14F-4D97-AF65-F5344CB8AC3E}">
        <p14:creationId xmlns:p14="http://schemas.microsoft.com/office/powerpoint/2010/main" val="14301861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E5FBC-D631-90FB-5213-A608BAC3A374}"/>
              </a:ext>
            </a:extLst>
          </p:cNvPr>
          <p:cNvSpPr>
            <a:spLocks noGrp="1"/>
          </p:cNvSpPr>
          <p:nvPr>
            <p:ph type="title"/>
          </p:nvPr>
        </p:nvSpPr>
        <p:spPr/>
        <p:txBody>
          <a:bodyPr/>
          <a:lstStyle/>
          <a:p>
            <a:r>
              <a:rPr lang="en-US"/>
              <a:t>Quicksort</a:t>
            </a:r>
          </a:p>
        </p:txBody>
      </p:sp>
      <p:sp>
        <p:nvSpPr>
          <p:cNvPr id="3" name="Content Placeholder 2">
            <a:extLst>
              <a:ext uri="{FF2B5EF4-FFF2-40B4-BE49-F238E27FC236}">
                <a16:creationId xmlns:a16="http://schemas.microsoft.com/office/drawing/2014/main" id="{4739103F-AB6C-AC26-4468-5FB6ACDE6E93}"/>
              </a:ext>
            </a:extLst>
          </p:cNvPr>
          <p:cNvSpPr>
            <a:spLocks noGrp="1"/>
          </p:cNvSpPr>
          <p:nvPr>
            <p:ph idx="1"/>
          </p:nvPr>
        </p:nvSpPr>
        <p:spPr>
          <a:xfrm>
            <a:off x="8602579" y="2129140"/>
            <a:ext cx="3429000" cy="2599720"/>
          </a:xfrm>
        </p:spPr>
        <p:txBody>
          <a:bodyPr/>
          <a:lstStyle/>
          <a:p>
            <a:r>
              <a:rPr lang="en-US"/>
              <a:t>Choose a pivot and partition the array around it.</a:t>
            </a:r>
          </a:p>
          <a:p>
            <a:r>
              <a:rPr lang="en-US"/>
              <a:t>Recursively sort the subarrays before and after the pivot.</a:t>
            </a:r>
          </a:p>
        </p:txBody>
      </p:sp>
      <p:sp>
        <p:nvSpPr>
          <p:cNvPr id="4" name="TextBox 3">
            <a:extLst>
              <a:ext uri="{FF2B5EF4-FFF2-40B4-BE49-F238E27FC236}">
                <a16:creationId xmlns:a16="http://schemas.microsoft.com/office/drawing/2014/main" id="{F249881F-489A-BBAE-0810-885FBBE05D2B}"/>
              </a:ext>
            </a:extLst>
          </p:cNvPr>
          <p:cNvSpPr txBox="1"/>
          <p:nvPr/>
        </p:nvSpPr>
        <p:spPr>
          <a:xfrm>
            <a:off x="258679" y="1691561"/>
            <a:ext cx="8945480" cy="4801314"/>
          </a:xfrm>
          <a:prstGeom prst="rect">
            <a:avLst/>
          </a:prstGeom>
          <a:noFill/>
        </p:spPr>
        <p:txBody>
          <a:bodyPr wrap="square" rtlCol="0">
            <a:spAutoFit/>
          </a:bodyPr>
          <a:lstStyle/>
          <a:p>
            <a:r>
              <a:rPr lang="en-US">
                <a:latin typeface="Courier New" panose="02070309020205020404" pitchFamily="49" charset="0"/>
                <a:cs typeface="Courier New" panose="02070309020205020404" pitchFamily="49" charset="0"/>
              </a:rPr>
              <a:t>QUICKSORT(A, left, right):</a:t>
            </a:r>
          </a:p>
          <a:p>
            <a:r>
              <a:rPr lang="en-US">
                <a:latin typeface="Courier New" panose="02070309020205020404" pitchFamily="49" charset="0"/>
                <a:cs typeface="Courier New" panose="02070309020205020404" pitchFamily="49" charset="0"/>
              </a:rPr>
              <a:t>    if left &lt; right:</a:t>
            </a:r>
          </a:p>
          <a:p>
            <a:r>
              <a:rPr lang="en-US">
                <a:latin typeface="Courier New" panose="02070309020205020404" pitchFamily="49" charset="0"/>
                <a:cs typeface="Courier New" panose="02070309020205020404" pitchFamily="49" charset="0"/>
              </a:rPr>
              <a:t>        pivot_index = PARTITION(A, left, right)</a:t>
            </a:r>
          </a:p>
          <a:p>
            <a:r>
              <a:rPr lang="en-US">
                <a:latin typeface="Courier New" panose="02070309020205020404" pitchFamily="49" charset="0"/>
                <a:cs typeface="Courier New" panose="02070309020205020404" pitchFamily="49" charset="0"/>
              </a:rPr>
              <a:t>        QUICKSORT(A, left, pivot_index – 1)</a:t>
            </a:r>
          </a:p>
          <a:p>
            <a:r>
              <a:rPr lang="en-US">
                <a:latin typeface="Courier New" panose="02070309020205020404" pitchFamily="49" charset="0"/>
                <a:cs typeface="Courier New" panose="02070309020205020404" pitchFamily="49" charset="0"/>
              </a:rPr>
              <a:t>        QUICKSORT(A, pivot_index + 1,right)</a:t>
            </a:r>
          </a:p>
          <a:p>
            <a:endParaRPr lang="en-US">
              <a:latin typeface="Courier New" panose="02070309020205020404" pitchFamily="49" charset="0"/>
              <a:cs typeface="Courier New" panose="02070309020205020404" pitchFamily="49" charset="0"/>
            </a:endParaRPr>
          </a:p>
          <a:p>
            <a:r>
              <a:rPr lang="en-US">
                <a:latin typeface="Courier New" panose="02070309020205020404" pitchFamily="49" charset="0"/>
                <a:cs typeface="Courier New" panose="02070309020205020404" pitchFamily="49" charset="0"/>
              </a:rPr>
              <a:t>PARTITION(A, left, right):</a:t>
            </a:r>
          </a:p>
          <a:p>
            <a:r>
              <a:rPr lang="en-US">
                <a:latin typeface="Courier New" panose="02070309020205020404" pitchFamily="49" charset="0"/>
                <a:cs typeface="Courier New" panose="02070309020205020404" pitchFamily="49" charset="0"/>
              </a:rPr>
              <a:t>    pivot = A[right]    # Set last element as pivot</a:t>
            </a:r>
          </a:p>
          <a:p>
            <a:r>
              <a:rPr lang="en-US">
                <a:latin typeface="Courier New" panose="02070309020205020404" pitchFamily="49" charset="0"/>
                <a:cs typeface="Courier New" panose="02070309020205020404" pitchFamily="49" charset="0"/>
              </a:rPr>
              <a:t>    i = left - 1        # Pointer for smaller elements region</a:t>
            </a:r>
          </a:p>
          <a:p>
            <a:r>
              <a:rPr lang="en-US">
                <a:latin typeface="Courier New" panose="02070309020205020404" pitchFamily="49" charset="0"/>
                <a:cs typeface="Courier New" panose="02070309020205020404" pitchFamily="49" charset="0"/>
              </a:rPr>
              <a:t>    </a:t>
            </a:r>
          </a:p>
          <a:p>
            <a:r>
              <a:rPr lang="en-US">
                <a:latin typeface="Courier New" panose="02070309020205020404" pitchFamily="49" charset="0"/>
                <a:cs typeface="Courier New" panose="02070309020205020404" pitchFamily="49" charset="0"/>
              </a:rPr>
              <a:t>    for j = left to right - 1:</a:t>
            </a:r>
          </a:p>
          <a:p>
            <a:r>
              <a:rPr lang="en-US">
                <a:latin typeface="Courier New" panose="02070309020205020404" pitchFamily="49" charset="0"/>
                <a:cs typeface="Courier New" panose="02070309020205020404" pitchFamily="49" charset="0"/>
              </a:rPr>
              <a:t>        if A[j] ≤ pivot:</a:t>
            </a:r>
          </a:p>
          <a:p>
            <a:r>
              <a:rPr lang="en-US">
                <a:latin typeface="Courier New" panose="02070309020205020404" pitchFamily="49" charset="0"/>
                <a:cs typeface="Courier New" panose="02070309020205020404" pitchFamily="49" charset="0"/>
              </a:rPr>
              <a:t>            i += 1</a:t>
            </a:r>
          </a:p>
          <a:p>
            <a:r>
              <a:rPr lang="en-US">
                <a:latin typeface="Courier New" panose="02070309020205020404" pitchFamily="49" charset="0"/>
                <a:cs typeface="Courier New" panose="02070309020205020404" pitchFamily="49" charset="0"/>
              </a:rPr>
              <a:t>            swap(A[i], A[j])  # Move smaller elements left</a:t>
            </a:r>
          </a:p>
          <a:p>
            <a:r>
              <a:rPr lang="en-US">
                <a:latin typeface="Courier New" panose="02070309020205020404" pitchFamily="49" charset="0"/>
                <a:cs typeface="Courier New" panose="02070309020205020404" pitchFamily="49" charset="0"/>
              </a:rPr>
              <a:t>    </a:t>
            </a:r>
          </a:p>
          <a:p>
            <a:r>
              <a:rPr lang="en-US">
                <a:latin typeface="Courier New" panose="02070309020205020404" pitchFamily="49" charset="0"/>
                <a:cs typeface="Courier New" panose="02070309020205020404" pitchFamily="49" charset="0"/>
              </a:rPr>
              <a:t>    swap(A[i + 1], A[right])   # Place pivot in correct position</a:t>
            </a:r>
          </a:p>
          <a:p>
            <a:r>
              <a:rPr lang="en-US">
                <a:latin typeface="Courier New" panose="02070309020205020404" pitchFamily="49" charset="0"/>
                <a:cs typeface="Courier New" panose="02070309020205020404" pitchFamily="49" charset="0"/>
              </a:rPr>
              <a:t>    return i + 1              # Return pivot index</a:t>
            </a:r>
          </a:p>
        </p:txBody>
      </p:sp>
    </p:spTree>
    <p:extLst>
      <p:ext uri="{BB962C8B-B14F-4D97-AF65-F5344CB8AC3E}">
        <p14:creationId xmlns:p14="http://schemas.microsoft.com/office/powerpoint/2010/main" val="1387421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51424-42CB-6128-64E0-70B6BD2694AB}"/>
              </a:ext>
            </a:extLst>
          </p:cNvPr>
          <p:cNvSpPr>
            <a:spLocks noGrp="1"/>
          </p:cNvSpPr>
          <p:nvPr>
            <p:ph type="title"/>
          </p:nvPr>
        </p:nvSpPr>
        <p:spPr>
          <a:xfrm>
            <a:off x="838200" y="46037"/>
            <a:ext cx="10515600" cy="1325563"/>
          </a:xfrm>
        </p:spPr>
        <p:txBody>
          <a:bodyPr/>
          <a:lstStyle/>
          <a:p>
            <a:r>
              <a:rPr lang="en-US"/>
              <a:t>Sorting A = [4, 2, 1, 5, 3]</a:t>
            </a:r>
          </a:p>
        </p:txBody>
      </p:sp>
      <p:graphicFrame>
        <p:nvGraphicFramePr>
          <p:cNvPr id="4" name="Content Placeholder 3">
            <a:extLst>
              <a:ext uri="{FF2B5EF4-FFF2-40B4-BE49-F238E27FC236}">
                <a16:creationId xmlns:a16="http://schemas.microsoft.com/office/drawing/2014/main" id="{803765DA-262B-6CC7-9E08-7F8AD6E82F0B}"/>
              </a:ext>
            </a:extLst>
          </p:cNvPr>
          <p:cNvGraphicFramePr>
            <a:graphicFrameLocks noGrp="1"/>
          </p:cNvGraphicFramePr>
          <p:nvPr>
            <p:ph idx="1"/>
            <p:extLst>
              <p:ext uri="{D42A27DB-BD31-4B8C-83A1-F6EECF244321}">
                <p14:modId xmlns:p14="http://schemas.microsoft.com/office/powerpoint/2010/main" val="2160607494"/>
              </p:ext>
            </p:extLst>
          </p:nvPr>
        </p:nvGraphicFramePr>
        <p:xfrm>
          <a:off x="437148" y="1058779"/>
          <a:ext cx="11317704" cy="5486400"/>
        </p:xfrm>
        <a:graphic>
          <a:graphicData uri="http://schemas.openxmlformats.org/drawingml/2006/table">
            <a:tbl>
              <a:tblPr firstRow="1" bandRow="1">
                <a:tableStyleId>{5C22544A-7EE6-4342-B048-85BDC9FD1C3A}</a:tableStyleId>
              </a:tblPr>
              <a:tblGrid>
                <a:gridCol w="772183">
                  <a:extLst>
                    <a:ext uri="{9D8B030D-6E8A-4147-A177-3AD203B41FA5}">
                      <a16:colId xmlns:a16="http://schemas.microsoft.com/office/drawing/2014/main" val="3131616421"/>
                    </a:ext>
                  </a:extLst>
                </a:gridCol>
                <a:gridCol w="348027">
                  <a:extLst>
                    <a:ext uri="{9D8B030D-6E8A-4147-A177-3AD203B41FA5}">
                      <a16:colId xmlns:a16="http://schemas.microsoft.com/office/drawing/2014/main" val="3947935309"/>
                    </a:ext>
                  </a:extLst>
                </a:gridCol>
                <a:gridCol w="330982">
                  <a:extLst>
                    <a:ext uri="{9D8B030D-6E8A-4147-A177-3AD203B41FA5}">
                      <a16:colId xmlns:a16="http://schemas.microsoft.com/office/drawing/2014/main" val="1805814734"/>
                    </a:ext>
                  </a:extLst>
                </a:gridCol>
                <a:gridCol w="1115380">
                  <a:extLst>
                    <a:ext uri="{9D8B030D-6E8A-4147-A177-3AD203B41FA5}">
                      <a16:colId xmlns:a16="http://schemas.microsoft.com/office/drawing/2014/main" val="3847781154"/>
                    </a:ext>
                  </a:extLst>
                </a:gridCol>
                <a:gridCol w="4077733">
                  <a:extLst>
                    <a:ext uri="{9D8B030D-6E8A-4147-A177-3AD203B41FA5}">
                      <a16:colId xmlns:a16="http://schemas.microsoft.com/office/drawing/2014/main" val="1787499754"/>
                    </a:ext>
                  </a:extLst>
                </a:gridCol>
                <a:gridCol w="2794446">
                  <a:extLst>
                    <a:ext uri="{9D8B030D-6E8A-4147-A177-3AD203B41FA5}">
                      <a16:colId xmlns:a16="http://schemas.microsoft.com/office/drawing/2014/main" val="3463566755"/>
                    </a:ext>
                  </a:extLst>
                </a:gridCol>
                <a:gridCol w="1878953">
                  <a:extLst>
                    <a:ext uri="{9D8B030D-6E8A-4147-A177-3AD203B41FA5}">
                      <a16:colId xmlns:a16="http://schemas.microsoft.com/office/drawing/2014/main" val="2778947967"/>
                    </a:ext>
                  </a:extLst>
                </a:gridCol>
              </a:tblGrid>
              <a:tr h="283766">
                <a:tc>
                  <a:txBody>
                    <a:bodyPr/>
                    <a:lstStyle/>
                    <a:p>
                      <a:r>
                        <a:rPr lang="en-US"/>
                        <a:t>Path</a:t>
                      </a:r>
                    </a:p>
                  </a:txBody>
                  <a:tcPr/>
                </a:tc>
                <a:tc>
                  <a:txBody>
                    <a:bodyPr/>
                    <a:lstStyle/>
                    <a:p>
                      <a:r>
                        <a:rPr lang="en-US"/>
                        <a:t>L</a:t>
                      </a:r>
                    </a:p>
                  </a:txBody>
                  <a:tcPr/>
                </a:tc>
                <a:tc>
                  <a:txBody>
                    <a:bodyPr/>
                    <a:lstStyle/>
                    <a:p>
                      <a:r>
                        <a:rPr lang="en-US"/>
                        <a:t>R</a:t>
                      </a:r>
                    </a:p>
                  </a:txBody>
                  <a:tcPr/>
                </a:tc>
                <a:tc>
                  <a:txBody>
                    <a:bodyPr/>
                    <a:lstStyle/>
                    <a:p>
                      <a:r>
                        <a:rPr lang="en-US"/>
                        <a:t>Partition</a:t>
                      </a:r>
                    </a:p>
                  </a:txBody>
                  <a:tcPr/>
                </a:tc>
                <a:tc>
                  <a:txBody>
                    <a:bodyPr/>
                    <a:lstStyle/>
                    <a:p>
                      <a:r>
                        <a:rPr lang="en-US"/>
                        <a:t>Directions</a:t>
                      </a:r>
                    </a:p>
                  </a:txBody>
                  <a:tcPr/>
                </a:tc>
                <a:tc>
                  <a:txBody>
                    <a:bodyPr/>
                    <a:lstStyle/>
                    <a:p>
                      <a:r>
                        <a:rPr lang="en-US"/>
                        <a:t>Actions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Result</a:t>
                      </a:r>
                    </a:p>
                  </a:txBody>
                  <a:tcPr/>
                </a:tc>
                <a:extLst>
                  <a:ext uri="{0D108BD9-81ED-4DB2-BD59-A6C34878D82A}">
                    <a16:rowId xmlns:a16="http://schemas.microsoft.com/office/drawing/2014/main" val="594944039"/>
                  </a:ext>
                </a:extLst>
              </a:tr>
              <a:tr h="1135065">
                <a:tc>
                  <a:txBody>
                    <a:bodyPr/>
                    <a:lstStyle/>
                    <a:p>
                      <a:pPr algn="ctr"/>
                      <a:r>
                        <a:rPr lang="en-US"/>
                        <a:t>-</a:t>
                      </a:r>
                    </a:p>
                  </a:txBody>
                  <a:tcPr anchor="ctr"/>
                </a:tc>
                <a:tc>
                  <a:txBody>
                    <a:bodyPr/>
                    <a:lstStyle/>
                    <a:p>
                      <a:pPr algn="ctr"/>
                      <a:r>
                        <a:rPr lang="en-US"/>
                        <a:t>0</a:t>
                      </a:r>
                    </a:p>
                  </a:txBody>
                  <a:tcPr anchor="ctr"/>
                </a:tc>
                <a:tc>
                  <a:txBody>
                    <a:bodyPr/>
                    <a:lstStyle/>
                    <a:p>
                      <a:pPr algn="ctr"/>
                      <a:r>
                        <a:rPr lang="en-US"/>
                        <a:t>3</a:t>
                      </a:r>
                    </a:p>
                  </a:txBody>
                  <a:tcPr anchor="ctr"/>
                </a:tc>
                <a:tc>
                  <a:txBody>
                    <a:bodyPr/>
                    <a:lstStyle/>
                    <a:p>
                      <a:pPr algn="ctr"/>
                      <a:r>
                        <a:rPr lang="en-US"/>
                        <a:t>3</a:t>
                      </a:r>
                    </a:p>
                  </a:txBody>
                  <a:tcPr anchor="ctr"/>
                </a:tc>
                <a:tc>
                  <a:txBody>
                    <a:bodyPr/>
                    <a:lstStyle/>
                    <a:p>
                      <a:r>
                        <a:rPr lang="en-US"/>
                        <a:t>Iterate, partitioning elements before pivot.</a:t>
                      </a:r>
                    </a:p>
                    <a:p>
                      <a:endParaRPr lang="en-US"/>
                    </a:p>
                    <a:p>
                      <a:r>
                        <a:rPr lang="en-US"/>
                        <a:t>Swap pivot into position.</a:t>
                      </a:r>
                    </a:p>
                    <a:p>
                      <a:r>
                        <a:rPr lang="en-US"/>
                        <a:t>Sort left of pivot.</a:t>
                      </a:r>
                    </a:p>
                    <a:p>
                      <a:r>
                        <a:rPr lang="en-US"/>
                        <a:t>Sort right of pivot.</a:t>
                      </a:r>
                    </a:p>
                  </a:txBody>
                  <a:tcPr/>
                </a:tc>
                <a:tc>
                  <a:txBody>
                    <a:bodyPr/>
                    <a:lstStyle/>
                    <a:p>
                      <a:r>
                        <a:rPr lang="en-US"/>
                        <a:t>i = 0, j = 1, swap (4, 2)</a:t>
                      </a:r>
                    </a:p>
                    <a:p>
                      <a:r>
                        <a:rPr lang="en-US"/>
                        <a:t>i = 1, j = 2, swap (4, 1)</a:t>
                      </a:r>
                    </a:p>
                    <a:p>
                      <a:r>
                        <a:rPr lang="en-US"/>
                        <a:t>i = 2, j hit pivot, swap (4, 3)</a:t>
                      </a:r>
                    </a:p>
                    <a:p>
                      <a:r>
                        <a:rPr lang="en-US"/>
                        <a:t>L: Sort(A, 0, 1)</a:t>
                      </a:r>
                    </a:p>
                    <a:p>
                      <a:r>
                        <a:rPr lang="en-US"/>
                        <a:t>R: Sort(A, 3, 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 4, 1, 5,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[2, 1, 4, 5,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[2, 1, 3, 5,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5,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a:t>
                      </a:r>
                    </a:p>
                  </a:txBody>
                  <a:tcPr/>
                </a:tc>
                <a:extLst>
                  <a:ext uri="{0D108BD9-81ED-4DB2-BD59-A6C34878D82A}">
                    <a16:rowId xmlns:a16="http://schemas.microsoft.com/office/drawing/2014/main" val="135867578"/>
                  </a:ext>
                </a:extLst>
              </a:tr>
              <a:tr h="922240">
                <a:tc>
                  <a:txBody>
                    <a:bodyPr/>
                    <a:lstStyle/>
                    <a:p>
                      <a:pPr algn="ctr"/>
                      <a:r>
                        <a:rPr lang="en-US"/>
                        <a:t>L</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1</a:t>
                      </a:r>
                    </a:p>
                  </a:txBody>
                  <a:tcPr anchor="ctr"/>
                </a:tc>
                <a:tc>
                  <a:txBody>
                    <a:bodyPr/>
                    <a:lstStyle/>
                    <a:p>
                      <a:r>
                        <a:rPr lang="en-US"/>
                        <a:t>Iterate, partitioning elements before pivot.</a:t>
                      </a:r>
                    </a:p>
                    <a:p>
                      <a:r>
                        <a:rPr lang="en-US"/>
                        <a:t>Swap pivot into position.</a:t>
                      </a:r>
                    </a:p>
                    <a:p>
                      <a:r>
                        <a:rPr lang="en-US"/>
                        <a:t>Sort left of pivot.</a:t>
                      </a:r>
                    </a:p>
                    <a:p>
                      <a:r>
                        <a:rPr lang="en-US"/>
                        <a:t>Sort right of pivot.</a:t>
                      </a:r>
                    </a:p>
                  </a:txBody>
                  <a:tcPr/>
                </a:tc>
                <a:tc>
                  <a:txBody>
                    <a:bodyPr/>
                    <a:lstStyle/>
                    <a:p>
                      <a:r>
                        <a:rPr lang="en-US"/>
                        <a:t>i = 0, nothing less than 1,</a:t>
                      </a:r>
                      <a:br>
                        <a:rPr lang="en-US"/>
                      </a:br>
                      <a:r>
                        <a:rPr lang="en-US"/>
                        <a:t>j hit pivot, swap (2, 1)</a:t>
                      </a:r>
                    </a:p>
                    <a:p>
                      <a:r>
                        <a:rPr lang="en-US"/>
                        <a:t>LL: Sort(A, 0, 0)</a:t>
                      </a:r>
                    </a:p>
                    <a:p>
                      <a:r>
                        <a:rPr lang="en-US"/>
                        <a:t>LR: Sort(A, 1,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 1, 3, 5,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5,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5,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5, 4]</a:t>
                      </a:r>
                    </a:p>
                  </a:txBody>
                  <a:tcPr/>
                </a:tc>
                <a:extLst>
                  <a:ext uri="{0D108BD9-81ED-4DB2-BD59-A6C34878D82A}">
                    <a16:rowId xmlns:a16="http://schemas.microsoft.com/office/drawing/2014/main" val="2430553239"/>
                  </a:ext>
                </a:extLst>
              </a:tr>
              <a:tr h="496591">
                <a:tc>
                  <a:txBody>
                    <a:bodyPr/>
                    <a:lstStyle/>
                    <a:p>
                      <a:pPr algn="ctr"/>
                      <a:r>
                        <a:rPr lang="en-US"/>
                        <a:t>LL LR</a:t>
                      </a:r>
                    </a:p>
                  </a:txBody>
                  <a:tcPr anchor="ctr"/>
                </a:tc>
                <a:tc>
                  <a:txBody>
                    <a:bodyPr/>
                    <a:lstStyle/>
                    <a:p>
                      <a:pPr algn="ctr"/>
                      <a:r>
                        <a:rPr lang="en-US"/>
                        <a:t>0 1</a:t>
                      </a:r>
                    </a:p>
                  </a:txBody>
                  <a:tcPr anchor="ctr"/>
                </a:tc>
                <a:tc>
                  <a:txBody>
                    <a:bodyPr/>
                    <a:lstStyle/>
                    <a:p>
                      <a:pPr algn="ctr"/>
                      <a:r>
                        <a:rPr lang="en-US"/>
                        <a:t>0 1</a:t>
                      </a:r>
                    </a:p>
                  </a:txBody>
                  <a:tcPr anchor="ctr"/>
                </a:tc>
                <a:tc>
                  <a:txBody>
                    <a:bodyPr/>
                    <a:lstStyle/>
                    <a:p>
                      <a:pPr algn="ctr"/>
                      <a:r>
                        <a:rPr lang="en-US"/>
                        <a:t>-</a:t>
                      </a:r>
                    </a:p>
                  </a:txBody>
                  <a:tcPr anchor="ctr"/>
                </a:tc>
                <a:tc>
                  <a:txBody>
                    <a:bodyPr/>
                    <a:lstStyle/>
                    <a:p>
                      <a:r>
                        <a:rPr lang="en-US"/>
                        <a:t>Left == Right, do nothing.</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172612352"/>
                  </a:ext>
                </a:extLst>
              </a:tr>
              <a:tr h="922240">
                <a:tc>
                  <a:txBody>
                    <a:bodyPr/>
                    <a:lstStyle/>
                    <a:p>
                      <a:pPr algn="ctr"/>
                      <a:r>
                        <a:rPr lang="en-US"/>
                        <a:t>R</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4</a:t>
                      </a:r>
                    </a:p>
                  </a:txBody>
                  <a:tcPr anchor="ctr"/>
                </a:tc>
                <a:tc>
                  <a:txBody>
                    <a:bodyPr/>
                    <a:lstStyle/>
                    <a:p>
                      <a:r>
                        <a:rPr lang="en-US"/>
                        <a:t>Iterate, partitioning elements before pivot.</a:t>
                      </a:r>
                    </a:p>
                    <a:p>
                      <a:r>
                        <a:rPr lang="en-US"/>
                        <a:t>Swap pivot into position.</a:t>
                      </a:r>
                    </a:p>
                    <a:p>
                      <a:r>
                        <a:rPr lang="en-US"/>
                        <a:t>Sort left of pivot.</a:t>
                      </a:r>
                    </a:p>
                    <a:p>
                      <a:r>
                        <a:rPr lang="en-US"/>
                        <a:t>Sort right of pivot.</a:t>
                      </a:r>
                    </a:p>
                  </a:txBody>
                  <a:tcPr/>
                </a:tc>
                <a:tc>
                  <a:txBody>
                    <a:bodyPr/>
                    <a:lstStyle/>
                    <a:p>
                      <a:r>
                        <a:rPr lang="en-US"/>
                        <a:t>i = 3, nothing less than 4,</a:t>
                      </a:r>
                      <a:br>
                        <a:rPr lang="en-US"/>
                      </a:br>
                      <a:r>
                        <a:rPr lang="en-US"/>
                        <a:t>j hit pivot, swap (5, 4)</a:t>
                      </a:r>
                    </a:p>
                    <a:p>
                      <a:r>
                        <a:rPr lang="en-US"/>
                        <a:t>RL: Sort(A, 3, 3)</a:t>
                      </a:r>
                    </a:p>
                    <a:p>
                      <a:r>
                        <a:rPr lang="en-US"/>
                        <a:t>RR: Sort(A, 4, 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[1, 2, 3, 5,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a:t>
                      </a:r>
                    </a:p>
                  </a:txBody>
                  <a:tcPr/>
                </a:tc>
                <a:extLst>
                  <a:ext uri="{0D108BD9-81ED-4DB2-BD59-A6C34878D82A}">
                    <a16:rowId xmlns:a16="http://schemas.microsoft.com/office/drawing/2014/main" val="1813847260"/>
                  </a:ext>
                </a:extLst>
              </a:tr>
              <a:tr h="514481">
                <a:tc>
                  <a:txBody>
                    <a:bodyPr/>
                    <a:lstStyle/>
                    <a:p>
                      <a:pPr algn="ctr"/>
                      <a:r>
                        <a:rPr lang="en-US"/>
                        <a:t>RL RR</a:t>
                      </a:r>
                    </a:p>
                  </a:txBody>
                  <a:tcPr anchor="ctr"/>
                </a:tc>
                <a:tc>
                  <a:txBody>
                    <a:bodyPr/>
                    <a:lstStyle/>
                    <a:p>
                      <a:pPr algn="ctr"/>
                      <a:r>
                        <a:rPr lang="en-US"/>
                        <a:t>3 4</a:t>
                      </a:r>
                    </a:p>
                  </a:txBody>
                  <a:tcPr anchor="ctr"/>
                </a:tc>
                <a:tc>
                  <a:txBody>
                    <a:bodyPr/>
                    <a:lstStyle/>
                    <a:p>
                      <a:pPr algn="ctr"/>
                      <a:r>
                        <a:rPr lang="en-US"/>
                        <a:t>34</a:t>
                      </a:r>
                    </a:p>
                  </a:txBody>
                  <a:tcPr anchor="ctr"/>
                </a:tc>
                <a:tc>
                  <a:txBody>
                    <a:bodyPr/>
                    <a:lstStyle/>
                    <a:p>
                      <a:pPr algn="ctr"/>
                      <a:r>
                        <a:rPr lang="en-US"/>
                        <a:t>-</a:t>
                      </a:r>
                    </a:p>
                  </a:txBody>
                  <a:tcPr anchor="ctr"/>
                </a:tc>
                <a:tc>
                  <a:txBody>
                    <a:bodyPr/>
                    <a:lstStyle/>
                    <a:p>
                      <a:r>
                        <a:rPr lang="en-US"/>
                        <a:t>Left == Right, do nothing.</a:t>
                      </a:r>
                    </a:p>
                  </a:txBody>
                  <a:tcPr/>
                </a:tc>
                <a:tc>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2678850866"/>
                  </a:ext>
                </a:extLst>
              </a:tr>
            </a:tbl>
          </a:graphicData>
        </a:graphic>
      </p:graphicFrame>
    </p:spTree>
    <p:extLst>
      <p:ext uri="{BB962C8B-B14F-4D97-AF65-F5344CB8AC3E}">
        <p14:creationId xmlns:p14="http://schemas.microsoft.com/office/powerpoint/2010/main" val="1540380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DFFB5-55B3-1109-76AD-89F36B2A1D26}"/>
              </a:ext>
            </a:extLst>
          </p:cNvPr>
          <p:cNvSpPr>
            <a:spLocks noGrp="1"/>
          </p:cNvSpPr>
          <p:nvPr>
            <p:ph type="title"/>
          </p:nvPr>
        </p:nvSpPr>
        <p:spPr/>
        <p:txBody>
          <a:bodyPr/>
          <a:lstStyle/>
          <a:p>
            <a:r>
              <a:rPr lang="en-US"/>
              <a:t>Sorting A = [5, 3, 6, 4, 1, 7, 2]</a:t>
            </a:r>
          </a:p>
        </p:txBody>
      </p:sp>
      <p:graphicFrame>
        <p:nvGraphicFramePr>
          <p:cNvPr id="4" name="Content Placeholder 3">
            <a:extLst>
              <a:ext uri="{FF2B5EF4-FFF2-40B4-BE49-F238E27FC236}">
                <a16:creationId xmlns:a16="http://schemas.microsoft.com/office/drawing/2014/main" id="{B0C44629-52FF-1C1C-1258-787DE7DC7BAA}"/>
              </a:ext>
            </a:extLst>
          </p:cNvPr>
          <p:cNvGraphicFramePr>
            <a:graphicFrameLocks noGrp="1"/>
          </p:cNvGraphicFramePr>
          <p:nvPr>
            <p:ph idx="1"/>
            <p:extLst>
              <p:ext uri="{D42A27DB-BD31-4B8C-83A1-F6EECF244321}">
                <p14:modId xmlns:p14="http://schemas.microsoft.com/office/powerpoint/2010/main" val="3010743931"/>
              </p:ext>
            </p:extLst>
          </p:nvPr>
        </p:nvGraphicFramePr>
        <p:xfrm>
          <a:off x="385010" y="1423138"/>
          <a:ext cx="11634537" cy="7139721"/>
        </p:xfrm>
        <a:graphic>
          <a:graphicData uri="http://schemas.openxmlformats.org/drawingml/2006/table">
            <a:tbl>
              <a:tblPr firstRow="1" bandRow="1">
                <a:tableStyleId>{5C22544A-7EE6-4342-B048-85BDC9FD1C3A}</a:tableStyleId>
              </a:tblPr>
              <a:tblGrid>
                <a:gridCol w="793800">
                  <a:extLst>
                    <a:ext uri="{9D8B030D-6E8A-4147-A177-3AD203B41FA5}">
                      <a16:colId xmlns:a16="http://schemas.microsoft.com/office/drawing/2014/main" val="1041956942"/>
                    </a:ext>
                  </a:extLst>
                </a:gridCol>
                <a:gridCol w="357770">
                  <a:extLst>
                    <a:ext uri="{9D8B030D-6E8A-4147-A177-3AD203B41FA5}">
                      <a16:colId xmlns:a16="http://schemas.microsoft.com/office/drawing/2014/main" val="821856815"/>
                    </a:ext>
                  </a:extLst>
                </a:gridCol>
                <a:gridCol w="340248">
                  <a:extLst>
                    <a:ext uri="{9D8B030D-6E8A-4147-A177-3AD203B41FA5}">
                      <a16:colId xmlns:a16="http://schemas.microsoft.com/office/drawing/2014/main" val="1627900317"/>
                    </a:ext>
                  </a:extLst>
                </a:gridCol>
                <a:gridCol w="1146604">
                  <a:extLst>
                    <a:ext uri="{9D8B030D-6E8A-4147-A177-3AD203B41FA5}">
                      <a16:colId xmlns:a16="http://schemas.microsoft.com/office/drawing/2014/main" val="3171526698"/>
                    </a:ext>
                  </a:extLst>
                </a:gridCol>
                <a:gridCol w="4191887">
                  <a:extLst>
                    <a:ext uri="{9D8B030D-6E8A-4147-A177-3AD203B41FA5}">
                      <a16:colId xmlns:a16="http://schemas.microsoft.com/office/drawing/2014/main" val="410234116"/>
                    </a:ext>
                  </a:extLst>
                </a:gridCol>
                <a:gridCol w="2872675">
                  <a:extLst>
                    <a:ext uri="{9D8B030D-6E8A-4147-A177-3AD203B41FA5}">
                      <a16:colId xmlns:a16="http://schemas.microsoft.com/office/drawing/2014/main" val="2354027320"/>
                    </a:ext>
                  </a:extLst>
                </a:gridCol>
                <a:gridCol w="1931553">
                  <a:extLst>
                    <a:ext uri="{9D8B030D-6E8A-4147-A177-3AD203B41FA5}">
                      <a16:colId xmlns:a16="http://schemas.microsoft.com/office/drawing/2014/main" val="3700047980"/>
                    </a:ext>
                  </a:extLst>
                </a:gridCol>
              </a:tblGrid>
              <a:tr h="398707">
                <a:tc>
                  <a:txBody>
                    <a:bodyPr/>
                    <a:lstStyle/>
                    <a:p>
                      <a:r>
                        <a:rPr lang="en-US"/>
                        <a:t>Path</a:t>
                      </a:r>
                    </a:p>
                  </a:txBody>
                  <a:tcPr/>
                </a:tc>
                <a:tc>
                  <a:txBody>
                    <a:bodyPr/>
                    <a:lstStyle/>
                    <a:p>
                      <a:r>
                        <a:rPr lang="en-US"/>
                        <a:t>L</a:t>
                      </a:r>
                    </a:p>
                  </a:txBody>
                  <a:tcPr/>
                </a:tc>
                <a:tc>
                  <a:txBody>
                    <a:bodyPr/>
                    <a:lstStyle/>
                    <a:p>
                      <a:r>
                        <a:rPr lang="en-US"/>
                        <a:t>R</a:t>
                      </a:r>
                    </a:p>
                  </a:txBody>
                  <a:tcPr/>
                </a:tc>
                <a:tc>
                  <a:txBody>
                    <a:bodyPr/>
                    <a:lstStyle/>
                    <a:p>
                      <a:r>
                        <a:rPr lang="en-US"/>
                        <a:t>Partition</a:t>
                      </a:r>
                    </a:p>
                  </a:txBody>
                  <a:tcPr/>
                </a:tc>
                <a:tc>
                  <a:txBody>
                    <a:bodyPr/>
                    <a:lstStyle/>
                    <a:p>
                      <a:r>
                        <a:rPr lang="en-US"/>
                        <a:t>Directions</a:t>
                      </a:r>
                    </a:p>
                  </a:txBody>
                  <a:tcPr/>
                </a:tc>
                <a:tc>
                  <a:txBody>
                    <a:bodyPr/>
                    <a:lstStyle/>
                    <a:p>
                      <a:r>
                        <a:rPr lang="en-US"/>
                        <a:t>Actions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Result</a:t>
                      </a:r>
                    </a:p>
                  </a:txBody>
                  <a:tcPr/>
                </a:tc>
                <a:extLst>
                  <a:ext uri="{0D108BD9-81ED-4DB2-BD59-A6C34878D82A}">
                    <a16:rowId xmlns:a16="http://schemas.microsoft.com/office/drawing/2014/main" val="4199915050"/>
                  </a:ext>
                </a:extLst>
              </a:tr>
              <a:tr h="1184632">
                <a:tc>
                  <a:txBody>
                    <a:bodyPr/>
                    <a:lstStyle/>
                    <a:p>
                      <a:pPr algn="ctr"/>
                      <a:r>
                        <a:rPr lang="en-US"/>
                        <a:t>-</a:t>
                      </a:r>
                    </a:p>
                  </a:txBody>
                  <a:tcPr anchor="ctr"/>
                </a:tc>
                <a:tc>
                  <a:txBody>
                    <a:bodyPr/>
                    <a:lstStyle/>
                    <a:p>
                      <a:pPr algn="ctr"/>
                      <a:r>
                        <a:rPr lang="en-US"/>
                        <a:t>0</a:t>
                      </a:r>
                    </a:p>
                  </a:txBody>
                  <a:tcPr anchor="ctr"/>
                </a:tc>
                <a:tc>
                  <a:txBody>
                    <a:bodyPr/>
                    <a:lstStyle/>
                    <a:p>
                      <a:pPr algn="ctr"/>
                      <a:r>
                        <a:rPr lang="en-US"/>
                        <a:t>6</a:t>
                      </a:r>
                    </a:p>
                  </a:txBody>
                  <a:tcPr anchor="ctr"/>
                </a:tc>
                <a:tc>
                  <a:txBody>
                    <a:bodyPr/>
                    <a:lstStyle/>
                    <a:p>
                      <a:pPr algn="ctr"/>
                      <a:r>
                        <a:rPr lang="en-US"/>
                        <a:t>2</a:t>
                      </a:r>
                    </a:p>
                  </a:txBody>
                  <a:tcPr anchor="ctr"/>
                </a:tc>
                <a:tc>
                  <a:txBody>
                    <a:bodyPr/>
                    <a:lstStyle/>
                    <a:p>
                      <a:r>
                        <a:rPr lang="en-US"/>
                        <a:t>Iterate, partitioning elements before pivot.</a:t>
                      </a:r>
                    </a:p>
                    <a:p>
                      <a:r>
                        <a:rPr lang="en-US"/>
                        <a:t>Swap pivot into position.</a:t>
                      </a:r>
                    </a:p>
                    <a:p>
                      <a:r>
                        <a:rPr lang="en-US"/>
                        <a:t>Sort left of pivot.</a:t>
                      </a:r>
                    </a:p>
                    <a:p>
                      <a:r>
                        <a:rPr lang="en-US"/>
                        <a:t>Sort right of pivot.</a:t>
                      </a:r>
                    </a:p>
                  </a:txBody>
                  <a:tcPr/>
                </a:tc>
                <a:tc>
                  <a:txBody>
                    <a:bodyPr/>
                    <a:lstStyle/>
                    <a:p>
                      <a:r>
                        <a:rPr lang="en-US"/>
                        <a:t>i = 0, j = 4: swap (5, 1)</a:t>
                      </a:r>
                    </a:p>
                    <a:p>
                      <a:r>
                        <a:rPr lang="en-US"/>
                        <a:t>i = 1, j hit pivot, swap (3, 2)</a:t>
                      </a:r>
                    </a:p>
                    <a:p>
                      <a:r>
                        <a:rPr lang="en-US"/>
                        <a:t>L: Sort(A, 0, 0)</a:t>
                      </a:r>
                    </a:p>
                    <a:p>
                      <a:r>
                        <a:rPr lang="en-US"/>
                        <a:t>R: Sort(A, 2, 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[1, 3, 6, 4, 5, 7, 2]</a:t>
                      </a:r>
                    </a:p>
                    <a:p>
                      <a:r>
                        <a:rPr lang="en-US"/>
                        <a:t>[1, 2, 6, 4, 5, 7, 3]</a:t>
                      </a:r>
                      <a:br>
                        <a:rPr lang="en-US"/>
                      </a:br>
                      <a:r>
                        <a:rPr lang="en-US"/>
                        <a:t>[1, 2, 6, 4, 5, 7, 3]</a:t>
                      </a:r>
                    </a:p>
                    <a:p>
                      <a:r>
                        <a:rPr lang="en-US"/>
                        <a:t>[1, 2, 3, 4, 5, 6, 7]</a:t>
                      </a:r>
                    </a:p>
                  </a:txBody>
                  <a:tcPr/>
                </a:tc>
                <a:extLst>
                  <a:ext uri="{0D108BD9-81ED-4DB2-BD59-A6C34878D82A}">
                    <a16:rowId xmlns:a16="http://schemas.microsoft.com/office/drawing/2014/main" val="3603165428"/>
                  </a:ext>
                </a:extLst>
              </a:tr>
              <a:tr h="398707">
                <a:tc>
                  <a:txBody>
                    <a:bodyPr/>
                    <a:lstStyle/>
                    <a:p>
                      <a:pPr algn="ctr"/>
                      <a:r>
                        <a:rPr lang="en-US"/>
                        <a:t>L</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a:t>
                      </a:r>
                    </a:p>
                  </a:txBody>
                  <a:tcPr anchor="ctr"/>
                </a:tc>
                <a:tc>
                  <a:txBody>
                    <a:bodyPr/>
                    <a:lstStyle/>
                    <a:p>
                      <a:r>
                        <a:rPr lang="en-US"/>
                        <a:t>Left == Right, do nothing.</a:t>
                      </a:r>
                    </a:p>
                  </a:txBody>
                  <a:tcPr/>
                </a:tc>
                <a:tc>
                  <a:txBody>
                    <a:bodyPr/>
                    <a:lstStyle/>
                    <a:p>
                      <a:r>
                        <a:rPr lang="en-US"/>
                        <a:t>-</a:t>
                      </a:r>
                    </a:p>
                  </a:txBody>
                  <a:tcPr/>
                </a:tc>
                <a:tc>
                  <a:txBody>
                    <a:bodyPr/>
                    <a:lstStyle/>
                    <a:p>
                      <a:r>
                        <a:rPr lang="en-US"/>
                        <a:t>-</a:t>
                      </a:r>
                    </a:p>
                  </a:txBody>
                  <a:tcPr/>
                </a:tc>
                <a:extLst>
                  <a:ext uri="{0D108BD9-81ED-4DB2-BD59-A6C34878D82A}">
                    <a16:rowId xmlns:a16="http://schemas.microsoft.com/office/drawing/2014/main" val="3392238560"/>
                  </a:ext>
                </a:extLst>
              </a:tr>
              <a:tr h="1184632">
                <a:tc>
                  <a:txBody>
                    <a:bodyPr/>
                    <a:lstStyle/>
                    <a:p>
                      <a:pPr algn="ctr"/>
                      <a:r>
                        <a:rPr lang="en-US"/>
                        <a:t>R</a:t>
                      </a:r>
                    </a:p>
                  </a:txBody>
                  <a:tcPr anchor="ctr"/>
                </a:tc>
                <a:tc>
                  <a:txBody>
                    <a:bodyPr/>
                    <a:lstStyle/>
                    <a:p>
                      <a:pPr algn="ctr"/>
                      <a:r>
                        <a:rPr lang="en-US"/>
                        <a:t>2</a:t>
                      </a:r>
                    </a:p>
                  </a:txBody>
                  <a:tcPr anchor="ctr"/>
                </a:tc>
                <a:tc>
                  <a:txBody>
                    <a:bodyPr/>
                    <a:lstStyle/>
                    <a:p>
                      <a:pPr algn="ctr"/>
                      <a:r>
                        <a:rPr lang="en-US"/>
                        <a:t>6</a:t>
                      </a:r>
                    </a:p>
                  </a:txBody>
                  <a:tcPr anchor="ctr"/>
                </a:tc>
                <a:tc>
                  <a:txBody>
                    <a:bodyPr/>
                    <a:lstStyle/>
                    <a:p>
                      <a:pPr algn="ctr"/>
                      <a:r>
                        <a:rPr lang="en-US"/>
                        <a:t>3</a:t>
                      </a:r>
                    </a:p>
                  </a:txBody>
                  <a:tcPr anchor="ctr"/>
                </a:tc>
                <a:tc>
                  <a:txBody>
                    <a:bodyPr/>
                    <a:lstStyle/>
                    <a:p>
                      <a:r>
                        <a:rPr lang="en-US"/>
                        <a:t>Iterate, partitioning elements before pivot.</a:t>
                      </a:r>
                    </a:p>
                    <a:p>
                      <a:r>
                        <a:rPr lang="en-US"/>
                        <a:t>Swap pivot into position.</a:t>
                      </a:r>
                    </a:p>
                    <a:p>
                      <a:r>
                        <a:rPr lang="en-US"/>
                        <a:t>Sort left of pivot.</a:t>
                      </a:r>
                    </a:p>
                    <a:p>
                      <a:r>
                        <a:rPr lang="en-US"/>
                        <a:t>Sort right of pivot.</a:t>
                      </a:r>
                    </a:p>
                  </a:txBody>
                  <a:tcPr/>
                </a:tc>
                <a:tc>
                  <a:txBody>
                    <a:bodyPr/>
                    <a:lstStyle/>
                    <a:p>
                      <a:r>
                        <a:rPr lang="en-US"/>
                        <a:t>i = 2, nothing less than 3,</a:t>
                      </a:r>
                      <a:br>
                        <a:rPr lang="en-US"/>
                      </a:br>
                      <a:r>
                        <a:rPr lang="en-US"/>
                        <a:t>I = 2, j hit pivot. swap(6, 3)</a:t>
                      </a:r>
                      <a:br>
                        <a:rPr lang="en-US"/>
                      </a:br>
                      <a:r>
                        <a:rPr lang="en-US"/>
                        <a:t>RL: Sort(A, 2, 1)</a:t>
                      </a:r>
                    </a:p>
                    <a:p>
                      <a:r>
                        <a:rPr lang="en-US"/>
                        <a:t>RR: Sort(A, 3, 6)</a:t>
                      </a:r>
                    </a:p>
                  </a:txBody>
                  <a:tcPr/>
                </a:tc>
                <a:tc>
                  <a:txBody>
                    <a:bodyPr/>
                    <a:lstStyle/>
                    <a:p>
                      <a:endParaRPr lang="en-US"/>
                    </a:p>
                    <a:p>
                      <a:r>
                        <a:rPr lang="en-US"/>
                        <a:t>[1, 2, 3, 4, 5, 7,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7,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6, 7]</a:t>
                      </a:r>
                    </a:p>
                  </a:txBody>
                  <a:tcPr/>
                </a:tc>
                <a:extLst>
                  <a:ext uri="{0D108BD9-81ED-4DB2-BD59-A6C34878D82A}">
                    <a16:rowId xmlns:a16="http://schemas.microsoft.com/office/drawing/2014/main" val="2652813308"/>
                  </a:ext>
                </a:extLst>
              </a:tr>
              <a:tr h="398707">
                <a:tc>
                  <a:txBody>
                    <a:bodyPr/>
                    <a:lstStyle/>
                    <a:p>
                      <a:pPr algn="ctr"/>
                      <a:r>
                        <a:rPr lang="en-US"/>
                        <a:t>RL</a:t>
                      </a:r>
                    </a:p>
                  </a:txBody>
                  <a:tcPr anchor="ctr"/>
                </a:tc>
                <a:tc>
                  <a:txBody>
                    <a:bodyPr/>
                    <a:lstStyle/>
                    <a:p>
                      <a:pPr algn="ctr"/>
                      <a:r>
                        <a:rPr lang="en-US"/>
                        <a:t>2</a:t>
                      </a:r>
                    </a:p>
                  </a:txBody>
                  <a:tcPr anchor="ctr"/>
                </a:tc>
                <a:tc>
                  <a:txBody>
                    <a:bodyPr/>
                    <a:lstStyle/>
                    <a:p>
                      <a:pPr algn="ctr"/>
                      <a:r>
                        <a:rPr lang="en-US"/>
                        <a:t>1</a:t>
                      </a:r>
                    </a:p>
                  </a:txBody>
                  <a:tcPr anchor="ctr"/>
                </a:tc>
                <a:tc>
                  <a:txBody>
                    <a:bodyPr/>
                    <a:lstStyle/>
                    <a:p>
                      <a:pPr algn="ctr"/>
                      <a:r>
                        <a:rPr lang="en-US"/>
                        <a:t>-</a:t>
                      </a:r>
                    </a:p>
                  </a:txBody>
                  <a:tcPr anchor="ctr"/>
                </a:tc>
                <a:tc>
                  <a:txBody>
                    <a:bodyPr/>
                    <a:lstStyle/>
                    <a:p>
                      <a:r>
                        <a:rPr lang="en-US"/>
                        <a:t>Left &gt; Right, do nothing.</a:t>
                      </a:r>
                    </a:p>
                  </a:txBody>
                  <a:tcPr/>
                </a:tc>
                <a:tc>
                  <a:txBody>
                    <a:bodyPr/>
                    <a:lstStyle/>
                    <a:p>
                      <a:r>
                        <a:rPr lang="en-US"/>
                        <a:t>-</a:t>
                      </a:r>
                    </a:p>
                  </a:txBody>
                  <a:tcPr/>
                </a:tc>
                <a:tc>
                  <a:txBody>
                    <a:bodyPr/>
                    <a:lstStyle/>
                    <a:p>
                      <a:r>
                        <a:rPr lang="en-US"/>
                        <a:t>-</a:t>
                      </a:r>
                    </a:p>
                  </a:txBody>
                  <a:tcPr/>
                </a:tc>
                <a:extLst>
                  <a:ext uri="{0D108BD9-81ED-4DB2-BD59-A6C34878D82A}">
                    <a16:rowId xmlns:a16="http://schemas.microsoft.com/office/drawing/2014/main" val="1368729709"/>
                  </a:ext>
                </a:extLst>
              </a:tr>
              <a:tr h="1458009">
                <a:tc>
                  <a:txBody>
                    <a:bodyPr/>
                    <a:lstStyle/>
                    <a:p>
                      <a:pPr algn="ctr"/>
                      <a:r>
                        <a:rPr lang="en-US"/>
                        <a:t>RR</a:t>
                      </a:r>
                    </a:p>
                  </a:txBody>
                  <a:tcPr anchor="ctr"/>
                </a:tc>
                <a:tc>
                  <a:txBody>
                    <a:bodyPr/>
                    <a:lstStyle/>
                    <a:p>
                      <a:pPr algn="ctr"/>
                      <a:r>
                        <a:rPr lang="en-US"/>
                        <a:t>3</a:t>
                      </a:r>
                    </a:p>
                  </a:txBody>
                  <a:tcPr anchor="ctr"/>
                </a:tc>
                <a:tc>
                  <a:txBody>
                    <a:bodyPr/>
                    <a:lstStyle/>
                    <a:p>
                      <a:pPr algn="ctr"/>
                      <a:r>
                        <a:rPr lang="en-US"/>
                        <a:t>6</a:t>
                      </a:r>
                    </a:p>
                  </a:txBody>
                  <a:tcPr anchor="ctr"/>
                </a:tc>
                <a:tc>
                  <a:txBody>
                    <a:bodyPr/>
                    <a:lstStyle/>
                    <a:p>
                      <a:pPr algn="ctr"/>
                      <a:r>
                        <a:rPr lang="en-US"/>
                        <a:t>6</a:t>
                      </a:r>
                    </a:p>
                  </a:txBody>
                  <a:tcPr anchor="ctr"/>
                </a:tc>
                <a:tc>
                  <a:txBody>
                    <a:bodyPr/>
                    <a:lstStyle/>
                    <a:p>
                      <a:r>
                        <a:rPr lang="en-US"/>
                        <a:t>Iterate, partitioning elements before pivot.</a:t>
                      </a:r>
                    </a:p>
                    <a:p>
                      <a:endParaRPr lang="en-US"/>
                    </a:p>
                    <a:p>
                      <a:r>
                        <a:rPr lang="en-US"/>
                        <a:t>Swap pivot into position.</a:t>
                      </a:r>
                    </a:p>
                    <a:p>
                      <a:r>
                        <a:rPr lang="en-US"/>
                        <a:t>Sort left of pivot.</a:t>
                      </a:r>
                    </a:p>
                    <a:p>
                      <a:r>
                        <a:rPr lang="en-US"/>
                        <a:t>Sort right of pivot.</a:t>
                      </a:r>
                    </a:p>
                  </a:txBody>
                  <a:tcPr/>
                </a:tc>
                <a:tc>
                  <a:txBody>
                    <a:bodyPr/>
                    <a:lstStyle/>
                    <a:p>
                      <a:r>
                        <a:rPr lang="en-US"/>
                        <a:t>i = 3, j = 3: swap (4, 4)</a:t>
                      </a:r>
                    </a:p>
                    <a:p>
                      <a:r>
                        <a:rPr lang="en-US"/>
                        <a:t>i = 4, j = 4: swap (5, 5)</a:t>
                      </a:r>
                    </a:p>
                    <a:p>
                      <a:r>
                        <a:rPr lang="en-US"/>
                        <a:t>i = 5, j hit pivot, swap (7, 6)</a:t>
                      </a:r>
                    </a:p>
                    <a:p>
                      <a:r>
                        <a:rPr lang="en-US"/>
                        <a:t>RRL: Sort(A, 3, 4)</a:t>
                      </a:r>
                      <a:br>
                        <a:rPr lang="en-US"/>
                      </a:br>
                      <a:r>
                        <a:rPr lang="en-US"/>
                        <a:t>RRR: Sort(A, 6, 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7,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7,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6, 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6, 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6, 7]</a:t>
                      </a:r>
                    </a:p>
                  </a:txBody>
                  <a:tcPr/>
                </a:tc>
                <a:extLst>
                  <a:ext uri="{0D108BD9-81ED-4DB2-BD59-A6C34878D82A}">
                    <a16:rowId xmlns:a16="http://schemas.microsoft.com/office/drawing/2014/main" val="3007247536"/>
                  </a:ext>
                </a:extLst>
              </a:tr>
              <a:tr h="1184632">
                <a:tc>
                  <a:txBody>
                    <a:bodyPr/>
                    <a:lstStyle/>
                    <a:p>
                      <a:pPr algn="ctr"/>
                      <a:r>
                        <a:rPr lang="en-US"/>
                        <a:t>RRL</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5</a:t>
                      </a:r>
                    </a:p>
                  </a:txBody>
                  <a:tcPr anchor="ctr"/>
                </a:tc>
                <a:tc>
                  <a:txBody>
                    <a:bodyPr/>
                    <a:lstStyle/>
                    <a:p>
                      <a:r>
                        <a:rPr lang="en-US"/>
                        <a:t>Iterate, partitioning elements before pivot.</a:t>
                      </a:r>
                    </a:p>
                    <a:p>
                      <a:r>
                        <a:rPr lang="en-US"/>
                        <a:t>Swap pivot into position.</a:t>
                      </a:r>
                    </a:p>
                    <a:p>
                      <a:r>
                        <a:rPr lang="en-US"/>
                        <a:t>Sort left of pivot.</a:t>
                      </a:r>
                    </a:p>
                    <a:p>
                      <a:r>
                        <a:rPr lang="en-US"/>
                        <a:t>Sort right of pivot.</a:t>
                      </a:r>
                    </a:p>
                  </a:txBody>
                  <a:tcPr/>
                </a:tc>
                <a:tc>
                  <a:txBody>
                    <a:bodyPr/>
                    <a:lstStyle/>
                    <a:p>
                      <a:r>
                        <a:rPr lang="en-US"/>
                        <a:t>i = 3, j = 3: swap (4, 4)</a:t>
                      </a:r>
                      <a:br>
                        <a:rPr lang="en-US"/>
                      </a:br>
                      <a:r>
                        <a:rPr lang="en-US"/>
                        <a:t>i = 4, j hit pivot. swap (5, 5)</a:t>
                      </a:r>
                    </a:p>
                    <a:p>
                      <a:r>
                        <a:rPr lang="en-US"/>
                        <a:t>RRLL: Sort(A, 3, 3)</a:t>
                      </a:r>
                      <a:br>
                        <a:rPr lang="en-US"/>
                      </a:br>
                      <a:r>
                        <a:rPr lang="en-US"/>
                        <a:t>RRLR: Sort(A, 4, 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6, 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6, 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6, 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[1, 2, 3, 4, 5, 6, 7]</a:t>
                      </a:r>
                    </a:p>
                  </a:txBody>
                  <a:tcPr/>
                </a:tc>
                <a:extLst>
                  <a:ext uri="{0D108BD9-81ED-4DB2-BD59-A6C34878D82A}">
                    <a16:rowId xmlns:a16="http://schemas.microsoft.com/office/drawing/2014/main" val="3349794355"/>
                  </a:ext>
                </a:extLst>
              </a:tr>
              <a:tr h="911256">
                <a:tc>
                  <a:txBody>
                    <a:bodyPr/>
                    <a:lstStyle/>
                    <a:p>
                      <a:pPr algn="ctr"/>
                      <a:r>
                        <a:rPr lang="en-US"/>
                        <a:t>RRLLRRLR RRR</a:t>
                      </a:r>
                    </a:p>
                  </a:txBody>
                  <a:tcPr anchor="ctr"/>
                </a:tc>
                <a:tc>
                  <a:txBody>
                    <a:bodyPr/>
                    <a:lstStyle/>
                    <a:p>
                      <a:pPr algn="ctr"/>
                      <a:r>
                        <a:rPr lang="en-US"/>
                        <a:t>3 4 6</a:t>
                      </a:r>
                    </a:p>
                  </a:txBody>
                  <a:tcPr anchor="ctr"/>
                </a:tc>
                <a:tc>
                  <a:txBody>
                    <a:bodyPr/>
                    <a:lstStyle/>
                    <a:p>
                      <a:pPr algn="ctr"/>
                      <a:r>
                        <a:rPr lang="en-US"/>
                        <a:t>3 4 6</a:t>
                      </a:r>
                    </a:p>
                  </a:txBody>
                  <a:tcPr anchor="ctr"/>
                </a:tc>
                <a:tc>
                  <a:txBody>
                    <a:bodyPr/>
                    <a:lstStyle/>
                    <a:p>
                      <a:pPr algn="ctr"/>
                      <a:r>
                        <a:rPr lang="en-US"/>
                        <a:t>-</a:t>
                      </a:r>
                    </a:p>
                  </a:txBody>
                  <a:tcPr anchor="ctr"/>
                </a:tc>
                <a:tc>
                  <a:txBody>
                    <a:bodyPr/>
                    <a:lstStyle/>
                    <a:p>
                      <a:r>
                        <a:rPr lang="en-US"/>
                        <a:t>Left == Right, do nothing.</a:t>
                      </a:r>
                    </a:p>
                  </a:txBody>
                  <a:tcPr/>
                </a:tc>
                <a:tc>
                  <a:txBody>
                    <a:bodyPr/>
                    <a:lstStyle/>
                    <a:p>
                      <a:r>
                        <a:rPr lang="en-US"/>
                        <a:t>-</a:t>
                      </a:r>
                    </a:p>
                  </a:txBody>
                  <a:tcPr/>
                </a:tc>
                <a:tc>
                  <a:txBody>
                    <a:bodyPr/>
                    <a:lstStyle/>
                    <a:p>
                      <a:r>
                        <a:rPr lang="en-US"/>
                        <a:t>-</a:t>
                      </a:r>
                    </a:p>
                  </a:txBody>
                  <a:tcPr/>
                </a:tc>
                <a:extLst>
                  <a:ext uri="{0D108BD9-81ED-4DB2-BD59-A6C34878D82A}">
                    <a16:rowId xmlns:a16="http://schemas.microsoft.com/office/drawing/2014/main" val="2963683711"/>
                  </a:ext>
                </a:extLst>
              </a:tr>
            </a:tbl>
          </a:graphicData>
        </a:graphic>
      </p:graphicFrame>
    </p:spTree>
    <p:extLst>
      <p:ext uri="{BB962C8B-B14F-4D97-AF65-F5344CB8AC3E}">
        <p14:creationId xmlns:p14="http://schemas.microsoft.com/office/powerpoint/2010/main" val="23750926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297D1-D929-26AA-E3A7-B5DC35C494B6}"/>
              </a:ext>
            </a:extLst>
          </p:cNvPr>
          <p:cNvSpPr>
            <a:spLocks noGrp="1"/>
          </p:cNvSpPr>
          <p:nvPr>
            <p:ph type="title"/>
          </p:nvPr>
        </p:nvSpPr>
        <p:spPr/>
        <p:txBody>
          <a:bodyPr/>
          <a:lstStyle/>
          <a:p>
            <a:r>
              <a:rPr lang="en-US"/>
              <a:t>Quick Sort Time Complexity</a:t>
            </a:r>
          </a:p>
        </p:txBody>
      </p:sp>
      <p:sp>
        <p:nvSpPr>
          <p:cNvPr id="3" name="Content Placeholder 2">
            <a:extLst>
              <a:ext uri="{FF2B5EF4-FFF2-40B4-BE49-F238E27FC236}">
                <a16:creationId xmlns:a16="http://schemas.microsoft.com/office/drawing/2014/main" id="{8B01A1CC-42C2-A723-B77B-6BA50D12F46D}"/>
              </a:ext>
            </a:extLst>
          </p:cNvPr>
          <p:cNvSpPr>
            <a:spLocks noGrp="1"/>
          </p:cNvSpPr>
          <p:nvPr>
            <p:ph idx="1"/>
          </p:nvPr>
        </p:nvSpPr>
        <p:spPr/>
        <p:txBody>
          <a:bodyPr/>
          <a:lstStyle/>
          <a:p>
            <a:r>
              <a:rPr lang="en-US"/>
              <a:t>Also requires Master Theorem for rigorous proof, but still O(n log n).</a:t>
            </a:r>
          </a:p>
          <a:p>
            <a:r>
              <a:rPr lang="en-US"/>
              <a:t>Why?</a:t>
            </a:r>
          </a:p>
          <a:p>
            <a:pPr lvl="1"/>
            <a:r>
              <a:rPr lang="en-US"/>
              <a:t>Best case: Pivot splits array in half everytime</a:t>
            </a:r>
          </a:p>
          <a:p>
            <a:pPr lvl="2"/>
            <a:r>
              <a:rPr lang="en-US"/>
              <a:t>T(n) = 2T(n/2) + O(n) yields O(n lg n)</a:t>
            </a:r>
          </a:p>
          <a:p>
            <a:pPr lvl="1"/>
            <a:r>
              <a:rPr lang="en-US"/>
              <a:t>Worst case: All elements fall to one side of pivot</a:t>
            </a:r>
          </a:p>
          <a:p>
            <a:pPr lvl="2"/>
            <a:r>
              <a:rPr lang="en-US"/>
              <a:t>T(n) = T(n-1) + O(n) yields O(n^2)</a:t>
            </a:r>
          </a:p>
          <a:p>
            <a:pPr lvl="1"/>
            <a:r>
              <a:rPr lang="en-US"/>
              <a:t>Average case: Probability favors balanced partitions</a:t>
            </a:r>
          </a:p>
          <a:p>
            <a:pPr lvl="2"/>
            <a:r>
              <a:rPr lang="en-US"/>
              <a:t>In large arrays, worst case is extremely unlikely unless array is already sorted</a:t>
            </a:r>
          </a:p>
          <a:p>
            <a:pPr lvl="2"/>
            <a:r>
              <a:rPr lang="en-US"/>
              <a:t>Pivot-selection strategies (median-of-three) further mitigate risk of bad partitions</a:t>
            </a:r>
          </a:p>
          <a:p>
            <a:r>
              <a:rPr lang="en-US"/>
              <a:t>Average case follows the visual example of MergeSort</a:t>
            </a:r>
          </a:p>
          <a:p>
            <a:pPr lvl="1"/>
            <a:r>
              <a:rPr lang="en-US"/>
              <a:t>log n levels, n work per level: O(log n) * O(n) = O(n log n)</a:t>
            </a:r>
          </a:p>
        </p:txBody>
      </p:sp>
    </p:spTree>
    <p:extLst>
      <p:ext uri="{BB962C8B-B14F-4D97-AF65-F5344CB8AC3E}">
        <p14:creationId xmlns:p14="http://schemas.microsoft.com/office/powerpoint/2010/main" val="23686387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7738-984F-6D73-3848-6C9DC436BF97}"/>
              </a:ext>
            </a:extLst>
          </p:cNvPr>
          <p:cNvSpPr>
            <a:spLocks noGrp="1"/>
          </p:cNvSpPr>
          <p:nvPr>
            <p:ph type="title"/>
          </p:nvPr>
        </p:nvSpPr>
        <p:spPr/>
        <p:txBody>
          <a:bodyPr/>
          <a:lstStyle/>
          <a:p>
            <a:r>
              <a:rPr lang="en-US"/>
              <a:t>Using MergeSort and QuickSort in Practice</a:t>
            </a:r>
          </a:p>
        </p:txBody>
      </p:sp>
      <p:sp>
        <p:nvSpPr>
          <p:cNvPr id="3" name="Content Placeholder 2">
            <a:extLst>
              <a:ext uri="{FF2B5EF4-FFF2-40B4-BE49-F238E27FC236}">
                <a16:creationId xmlns:a16="http://schemas.microsoft.com/office/drawing/2014/main" id="{DD3B94B1-0F44-5CC3-E478-78918E93885B}"/>
              </a:ext>
            </a:extLst>
          </p:cNvPr>
          <p:cNvSpPr>
            <a:spLocks noGrp="1"/>
          </p:cNvSpPr>
          <p:nvPr>
            <p:ph idx="1"/>
          </p:nvPr>
        </p:nvSpPr>
        <p:spPr/>
        <p:txBody>
          <a:bodyPr/>
          <a:lstStyle/>
          <a:p>
            <a:r>
              <a:rPr lang="en-US"/>
              <a:t>Because of the divide and conquer strategy, both are extremely parallelizable. </a:t>
            </a:r>
          </a:p>
          <a:p>
            <a:r>
              <a:rPr lang="en-US"/>
              <a:t>MergeSort is very effective for sorting large datasets.</a:t>
            </a:r>
          </a:p>
          <a:p>
            <a:r>
              <a:rPr lang="en-US"/>
              <a:t>QuickSort is preferred for large arrays because:</a:t>
            </a:r>
          </a:p>
          <a:p>
            <a:pPr lvl="1"/>
            <a:r>
              <a:rPr lang="en-US"/>
              <a:t>It modifies the array in-place (doesn't need to allocate temporary arrays), and</a:t>
            </a:r>
          </a:p>
          <a:p>
            <a:pPr lvl="1"/>
            <a:r>
              <a:rPr lang="en-US"/>
              <a:t>It is better able to take advantage of caching to reduce its overhead.</a:t>
            </a:r>
          </a:p>
          <a:p>
            <a:r>
              <a:rPr lang="en-US"/>
              <a:t>QuickSort is somewhat faster in practice.</a:t>
            </a:r>
          </a:p>
          <a:p>
            <a:pPr lvl="1"/>
            <a:endParaRPr lang="en-US"/>
          </a:p>
        </p:txBody>
      </p:sp>
    </p:spTree>
    <p:extLst>
      <p:ext uri="{BB962C8B-B14F-4D97-AF65-F5344CB8AC3E}">
        <p14:creationId xmlns:p14="http://schemas.microsoft.com/office/powerpoint/2010/main" val="41332425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3852D-93AD-BC1E-E75A-6EBE6B228A26}"/>
              </a:ext>
            </a:extLst>
          </p:cNvPr>
          <p:cNvSpPr>
            <a:spLocks noGrp="1"/>
          </p:cNvSpPr>
          <p:nvPr>
            <p:ph type="title"/>
          </p:nvPr>
        </p:nvSpPr>
        <p:spPr/>
        <p:txBody>
          <a:bodyPr/>
          <a:lstStyle/>
          <a:p>
            <a:r>
              <a:rPr lang="en-US"/>
              <a:t>Java's Built In Sorting</a:t>
            </a:r>
          </a:p>
        </p:txBody>
      </p:sp>
      <p:sp>
        <p:nvSpPr>
          <p:cNvPr id="3" name="Content Placeholder 2">
            <a:extLst>
              <a:ext uri="{FF2B5EF4-FFF2-40B4-BE49-F238E27FC236}">
                <a16:creationId xmlns:a16="http://schemas.microsoft.com/office/drawing/2014/main" id="{19E44757-7905-3762-A7C9-FB52B3774256}"/>
              </a:ext>
            </a:extLst>
          </p:cNvPr>
          <p:cNvSpPr>
            <a:spLocks noGrp="1"/>
          </p:cNvSpPr>
          <p:nvPr>
            <p:ph idx="1"/>
          </p:nvPr>
        </p:nvSpPr>
        <p:spPr>
          <a:xfrm>
            <a:off x="838200" y="1825625"/>
            <a:ext cx="10515600" cy="1795880"/>
          </a:xfrm>
        </p:spPr>
        <p:txBody>
          <a:bodyPr/>
          <a:lstStyle/>
          <a:p>
            <a:pPr marL="0" indent="0">
              <a:buNone/>
            </a:pPr>
            <a:r>
              <a:rPr lang="en-US">
                <a:latin typeface="Courier New" panose="02070309020205020404" pitchFamily="49" charset="0"/>
                <a:cs typeface="Courier New" panose="02070309020205020404" pitchFamily="49" charset="0"/>
              </a:rPr>
              <a:t>import java.util.Arrays;</a:t>
            </a:r>
          </a:p>
          <a:p>
            <a:pPr marL="0" indent="0">
              <a:buNone/>
            </a:pPr>
            <a:r>
              <a:rPr lang="en-US">
                <a:latin typeface="Courier New" panose="02070309020205020404" pitchFamily="49" charset="0"/>
                <a:cs typeface="Courier New" panose="02070309020205020404" pitchFamily="49" charset="0"/>
              </a:rPr>
              <a:t>// Initialize some array</a:t>
            </a:r>
          </a:p>
          <a:p>
            <a:pPr marL="0" indent="0">
              <a:buNone/>
            </a:pPr>
            <a:r>
              <a:rPr lang="en-US">
                <a:latin typeface="Courier New" panose="02070309020205020404" pitchFamily="49" charset="0"/>
                <a:cs typeface="Courier New" panose="02070309020205020404" pitchFamily="49" charset="0"/>
              </a:rPr>
              <a:t>Arrays.sort(array);</a:t>
            </a:r>
          </a:p>
        </p:txBody>
      </p:sp>
      <p:sp>
        <p:nvSpPr>
          <p:cNvPr id="4" name="TextBox 3">
            <a:extLst>
              <a:ext uri="{FF2B5EF4-FFF2-40B4-BE49-F238E27FC236}">
                <a16:creationId xmlns:a16="http://schemas.microsoft.com/office/drawing/2014/main" id="{60E92117-0139-42B2-9CB9-66DF82A39685}"/>
              </a:ext>
            </a:extLst>
          </p:cNvPr>
          <p:cNvSpPr txBox="1"/>
          <p:nvPr/>
        </p:nvSpPr>
        <p:spPr>
          <a:xfrm>
            <a:off x="838200" y="3429000"/>
            <a:ext cx="10303042" cy="1200329"/>
          </a:xfrm>
          <a:prstGeom prst="rect">
            <a:avLst/>
          </a:prstGeom>
          <a:noFill/>
        </p:spPr>
        <p:txBody>
          <a:bodyPr wrap="square" rtlCol="0">
            <a:spAutoFit/>
          </a:bodyPr>
          <a:lstStyle/>
          <a:p>
            <a:pPr marL="285750" indent="-285750">
              <a:buFont typeface="Arial" panose="020B0604020202020204" pitchFamily="34" charset="0"/>
              <a:buChar char="•"/>
            </a:pPr>
            <a:r>
              <a:rPr lang="en-US" sz="2400"/>
              <a:t>Arrays.sort() utilizes different techniques optimized for different data types.</a:t>
            </a:r>
          </a:p>
          <a:p>
            <a:pPr marL="285750" indent="-285750">
              <a:buFont typeface="Arial" panose="020B0604020202020204" pitchFamily="34" charset="0"/>
              <a:buChar char="•"/>
            </a:pPr>
            <a:r>
              <a:rPr lang="en-US" sz="2400"/>
              <a:t>For primitive arrays, it uses a Dual-Pivot Quicksort</a:t>
            </a:r>
          </a:p>
          <a:p>
            <a:pPr marL="285750" indent="-285750">
              <a:buFont typeface="Arial" panose="020B0604020202020204" pitchFamily="34" charset="0"/>
              <a:buChar char="•"/>
            </a:pPr>
            <a:r>
              <a:rPr lang="en-US" sz="2400"/>
              <a:t>For Object arrays, it uses TimSort – a kind of hybrid Merge Sort/Insertion Sort </a:t>
            </a:r>
          </a:p>
        </p:txBody>
      </p:sp>
    </p:spTree>
    <p:extLst>
      <p:ext uri="{BB962C8B-B14F-4D97-AF65-F5344CB8AC3E}">
        <p14:creationId xmlns:p14="http://schemas.microsoft.com/office/powerpoint/2010/main" val="11190623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imes new roma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562</TotalTime>
  <Words>5958</Words>
  <Application>Microsoft Office PowerPoint</Application>
  <PresentationFormat>Widescreen</PresentationFormat>
  <Paragraphs>680</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Courier New</vt:lpstr>
      <vt:lpstr>Times New Roman</vt:lpstr>
      <vt:lpstr>Office Theme</vt:lpstr>
      <vt:lpstr>Sorting</vt:lpstr>
      <vt:lpstr>Elementary Sorting Algorithms</vt:lpstr>
      <vt:lpstr>Bubble Sort</vt:lpstr>
      <vt:lpstr>Sorting [5, 3, 8, 4, 2]</vt:lpstr>
      <vt:lpstr>Sorting [5, 1, 3, 2, 4]</vt:lpstr>
      <vt:lpstr>Calculate Bubble Sort Time Complexity</vt:lpstr>
      <vt:lpstr>Bounds of Bubble Sort</vt:lpstr>
      <vt:lpstr>Insertion Sort</vt:lpstr>
      <vt:lpstr>Sorting [4, 2, 3, 5, 1], rep'd as [4 | 2, 3, 5, 1] </vt:lpstr>
      <vt:lpstr>Sorting [1 | 5, 2, 4, 3]</vt:lpstr>
      <vt:lpstr>Calculate Insertion Sort Time Complexity</vt:lpstr>
      <vt:lpstr>Bounds of Insertion Sort</vt:lpstr>
      <vt:lpstr>Selection Sort</vt:lpstr>
      <vt:lpstr>Sorting [5| 2, 4, 1, 3]</vt:lpstr>
      <vt:lpstr>Sorting [3| 1, 2, 4, 5] </vt:lpstr>
      <vt:lpstr>Calculate Selection Sort Time Complexity</vt:lpstr>
      <vt:lpstr>Using Elementary Sorting Algos In Practice</vt:lpstr>
      <vt:lpstr>Intermediate Sorting Algorithms</vt:lpstr>
      <vt:lpstr>Merge Sort</vt:lpstr>
      <vt:lpstr>Merge Sort Example</vt:lpstr>
      <vt:lpstr>Sorting A = [4, 3, 2, 1]</vt:lpstr>
      <vt:lpstr>Sorting A = [5, 2, 4, 1, 3]</vt:lpstr>
      <vt:lpstr>Calculate Merge Sort Time Complexity</vt:lpstr>
      <vt:lpstr>Visual Analysis for Time Complexity</vt:lpstr>
      <vt:lpstr>Quicksort</vt:lpstr>
      <vt:lpstr>Sorting A = [4, 2, 1, 5, 3]</vt:lpstr>
      <vt:lpstr>Sorting A = [5, 3, 6, 4, 1, 7, 2]</vt:lpstr>
      <vt:lpstr>Quick Sort Time Complexity</vt:lpstr>
      <vt:lpstr>Using MergeSort and QuickSort in Practice</vt:lpstr>
      <vt:lpstr>Java's Built In Sorting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Aughdon Breslin</dc:creator>
  <cp:lastModifiedBy>Aughdon Breslin</cp:lastModifiedBy>
  <cp:revision>4</cp:revision>
  <dcterms:created xsi:type="dcterms:W3CDTF">2025-04-18T22:13:52Z</dcterms:created>
  <dcterms:modified xsi:type="dcterms:W3CDTF">2025-04-20T00:54:44Z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3fd474-4f3c-44ed-88fb-5cc4bd2471bf_Enabled">
    <vt:lpwstr>true</vt:lpwstr>
  </property>
  <property fmtid="{D5CDD505-2E9C-101B-9397-08002B2CF9AE}" pid="3" name="MSIP_Label_a73fd474-4f3c-44ed-88fb-5cc4bd2471bf_SetDate">
    <vt:lpwstr>2025-04-19T13:07:07Z</vt:lpwstr>
  </property>
  <property fmtid="{D5CDD505-2E9C-101B-9397-08002B2CF9AE}" pid="4" name="MSIP_Label_a73fd474-4f3c-44ed-88fb-5cc4bd2471bf_Method">
    <vt:lpwstr>Standard</vt:lpwstr>
  </property>
  <property fmtid="{D5CDD505-2E9C-101B-9397-08002B2CF9AE}" pid="5" name="MSIP_Label_a73fd474-4f3c-44ed-88fb-5cc4bd2471bf_Name">
    <vt:lpwstr>defa4170-0d19-0005-0004-bc88714345d2</vt:lpwstr>
  </property>
  <property fmtid="{D5CDD505-2E9C-101B-9397-08002B2CF9AE}" pid="6" name="MSIP_Label_a73fd474-4f3c-44ed-88fb-5cc4bd2471bf_SiteId">
    <vt:lpwstr>8d1a69ec-03b5-4345-ae21-dad112f5fb4f</vt:lpwstr>
  </property>
  <property fmtid="{D5CDD505-2E9C-101B-9397-08002B2CF9AE}" pid="7" name="MSIP_Label_a73fd474-4f3c-44ed-88fb-5cc4bd2471bf_ActionId">
    <vt:lpwstr>c55620f9-25c5-49e7-bb92-86d43db944ce</vt:lpwstr>
  </property>
  <property fmtid="{D5CDD505-2E9C-101B-9397-08002B2CF9AE}" pid="8" name="MSIP_Label_a73fd474-4f3c-44ed-88fb-5cc4bd2471bf_ContentBits">
    <vt:lpwstr>0</vt:lpwstr>
  </property>
  <property fmtid="{D5CDD505-2E9C-101B-9397-08002B2CF9AE}" pid="9" name="MSIP_Label_a73fd474-4f3c-44ed-88fb-5cc4bd2471bf_Tag">
    <vt:lpwstr>10, 3, 0, 1</vt:lpwstr>
  </property>
</Properties>
</file>